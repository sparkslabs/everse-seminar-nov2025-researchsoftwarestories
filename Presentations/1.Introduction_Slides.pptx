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7216"/>
    <p:restoredTop autoAdjust="0" sz="96354"/>
  </p:normalViewPr>
  <p:slideViewPr>
    <p:cSldViewPr snapToGrid="0" snapToObjects="1">
      <p:cViewPr>
        <p:scale>
          <a:sx d="100" n="156"/>
          <a:sy d="100" n="156"/>
        </p:scale>
        <p:origin x="248" y="44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notesMaster" Target="notesMasters/notesMaster1.xml" /><Relationship Id="rId30" Type="http://schemas.openxmlformats.org/officeDocument/2006/relationships/tableStyles" Target="tableStyles.xml" /><Relationship Id="rId1" Type="http://schemas.openxmlformats.org/officeDocument/2006/relationships/slideMaster" Target="slideMasters/slideMaster1.xml" /><Relationship Id="rId28" Type="http://schemas.openxmlformats.org/officeDocument/2006/relationships/viewProps" Target="viewProps.xml" /><Relationship Id="rId27" Type="http://schemas.openxmlformats.org/officeDocument/2006/relationships/presProps" Target="presProps.xml" /><Relationship Id="rId2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Good afternoon, and thank you for joining us today. My name is Michael Sparks, and over the next two hours we’re going to explore something that sounds deceptively simple, but which turns out it can have a surprisingly large impact on how effectively we conduct, communicate, and sustain our research - that is, telling the story of our research software.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first the agenda!</a:t>
            </a:r>
          </a:p>
          <a:p>
            <a:pPr lvl="0" indent="0" marL="0">
              <a:buNone/>
            </a:pPr>
          </a:p>
          <a:p>
            <a:pPr lvl="0" indent="0" marL="0">
              <a:buNone/>
            </a:pPr>
            <a:r>
              <a:rPr/>
              <a:t>I’ll come back to this, but there’s five mini sessions today:</a:t>
            </a:r>
          </a:p>
          <a:p>
            <a:pPr lvl="0" indent="0" marL="0">
              <a:buNone/>
            </a:pPr>
          </a:p>
          <a:p>
            <a:pPr lvl="0"/>
            <a:r>
              <a:rPr/>
              <a:t>Introduction (10 minutes)</a:t>
            </a:r>
          </a:p>
          <a:p>
            <a:pPr lvl="0" indent="0" marL="0">
              <a:buNone/>
            </a:pPr>
          </a:p>
          <a:p>
            <a:pPr lvl="0"/>
            <a:r>
              <a:rPr/>
              <a:t>What are What are Research Software Stories (10minutes)</a:t>
            </a:r>
          </a:p>
          <a:p>
            <a:pPr lvl="0" indent="0" marL="0">
              <a:buNone/>
            </a:pPr>
          </a:p>
          <a:p>
            <a:pPr lvl="0"/>
            <a:r>
              <a:rPr/>
              <a:t>Why write them + Q&amp;A (20 minutes)</a:t>
            </a:r>
          </a:p>
          <a:p>
            <a:pPr lvl="0" indent="0" marL="0">
              <a:buNone/>
            </a:pPr>
          </a:p>
          <a:p>
            <a:pPr lvl="0"/>
            <a:r>
              <a:rPr/>
              <a:t>How we write them - Template walkthrough (15 minutes) (short break)</a:t>
            </a:r>
          </a:p>
          <a:p>
            <a:pPr lvl="0" indent="0" marL="0">
              <a:buNone/>
            </a:pPr>
          </a:p>
          <a:p>
            <a:pPr lvl="0"/>
            <a:r>
              <a:rPr/>
              <a:t>Guided writing session (35 mins + 15 mins)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we get into anything substantial, let me start with a few introductory notes.</a:t>
            </a:r>
          </a:p>
          <a:p>
            <a:pPr lvl="0" indent="0" marL="0">
              <a:buNone/>
            </a:pPr>
          </a:p>
          <a:p>
            <a:pPr lvl="0" indent="0" marL="0">
              <a:buNone/>
            </a:pPr>
            <a:r>
              <a:rPr/>
              <a:t>This session is being recorded so that participants who cannot attend live can revisit the material later. You are welcome to keep cameras on or off - whatever is most comfortable for you. I’ll ask you to mute your microphone, unless we’re in a Q&amp;A session. Please DO use the chat - if you can pop where you’re from into the chat that would be interesting, and what you’re hoping to get from from this session - that would be great. Please DO pop questions into the Q&amp;A, and I’ll review the Q&amp;A periodically.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session will have two parts: the first is presentation-focused, where I’ll introduce the core ideas, and the second hour is hands-on, where you’ll begin drafting the outline of a Research Software Story for your own project.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who am I?</a:t>
            </a:r>
          </a:p>
          <a:p>
            <a:pPr lvl="0" indent="0" marL="0">
              <a:buNone/>
            </a:pPr>
          </a:p>
          <a:p>
            <a:pPr lvl="0" indent="0" marL="0">
              <a:buNone/>
            </a:pPr>
            <a:r>
              <a:rPr/>
              <a:t>Well, I’m a Senior Research Software Engineer at the University of Manchester. I’m based in Physics and Astronomy, and work as part of the eScience lab team on the EVERSE project. My background is computer science, and I’ve been writing code for longer than I can remember, and a professional software engineer for over 27 years – over 23 of those in a R&amp;D context.</a:t>
            </a:r>
          </a:p>
          <a:p>
            <a:pPr lvl="0" indent="0" marL="0">
              <a:buNone/>
            </a:pPr>
          </a:p>
          <a:p>
            <a:pPr lvl="0" indent="0" marL="0">
              <a:buNone/>
            </a:pPr>
            <a:r>
              <a:rPr/>
              <a:t>This has been from broadcast studio projects, and network systems through concurrency component systems, mass participatory projects through to building the original BBC micro:bit prototype which we trialled in schools to enable children to learn the core of software development.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I’ve been with EVERSE project and the University of Manchester since earlier in the year.</a:t>
            </a:r>
          </a:p>
          <a:p>
            <a:pPr lvl="0" indent="0" marL="0">
              <a:buNone/>
            </a:pPr>
          </a:p>
          <a:p>
            <a:pPr lvl="0" indent="0" marL="0">
              <a:buNone/>
            </a:pPr>
            <a:r>
              <a:rPr/>
              <a:t>But what is the EVERSE project? Many of you on the call may already know this and may have attended other EVERSE seminars beforehand, in which case Hello! Some of you may have just seen a linkedin message promoting this and thought “that sounds intriguing” and not know anything about EVERSE.</a:t>
            </a:r>
          </a:p>
          <a:p>
            <a:pPr lvl="0" indent="0" marL="0">
              <a:buNone/>
            </a:pPr>
          </a:p>
          <a:p>
            <a:pPr lvl="0" indent="0" marL="0">
              <a:buNone/>
            </a:pPr>
            <a:r>
              <a:rPr/>
              <a:t>So briefly:</a:t>
            </a:r>
          </a:p>
          <a:p>
            <a:pPr lvl="0" indent="0" marL="0">
              <a:buNone/>
            </a:pPr>
          </a:p>
          <a:p>
            <a:pPr lvl="0"/>
            <a:r>
              <a:rPr/>
              <a:t>EVERSE’S core goal is to improve the quality of research across the EU science clusters by increasing the quality of the research software that underpins that research.</a:t>
            </a:r>
          </a:p>
          <a:p>
            <a:pPr lvl="0" indent="0" marL="0">
              <a:buNone/>
            </a:pPr>
          </a:p>
          <a:p>
            <a:pPr lvl="0"/>
            <a:r>
              <a:rPr/>
              <a:t>The EVERSE project aims to create a framework for research software and code excellence, collaboratively designed and championed by the research communities, in pursuit of building a European network of Research Software Quality and setting the foundations of a future Virtual Institute for Research Software Excellence.</a:t>
            </a:r>
          </a:p>
          <a:p>
            <a:pPr lvl="0" indent="0" marL="0">
              <a:buNone/>
            </a:pPr>
          </a:p>
          <a:p>
            <a:pPr lvl="0"/>
            <a:r>
              <a:rPr/>
              <a:t>One of the work-in-progress outcomes of this project is called “RSQKit” - a Research Software Quality Tookit. This is captures and shares good practices in terms of terms metrics - such as dimensions and indicators, but also in terms of a collection of common tasks and tools, and descriptions of good software practices in the community. This allows sharing of best practices, not just in theory, but also in practice.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let me introduce what we’re doing today and why this matters.</a:t>
            </a:r>
          </a:p>
          <a:p>
            <a:pPr lvl="0" indent="0" marL="0">
              <a:buNone/>
            </a:pPr>
          </a:p>
          <a:p>
            <a:pPr lvl="0" indent="0" marL="0">
              <a:buNone/>
            </a:pPr>
            <a:r>
              <a:rPr/>
              <a:t>I want to begin with a very simple claim: if you care about reproducibility, onboarding, or being able to restart your research after a gap, then having a clear, structured understanding of your research software is one of the most practical things you can do to support yourself and your collaborators. This might sound obvious - almost trivial - but in practice, many of us never actually write these things down in a coherent, accessible way.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Research software is often deeply embedded in the scientific process. It performs analyses, transforms data, runs simulations, generates models, or glues together entire workflows. Yet despite being essential for research outputs, software practices often remain hidden: stored in the memories of a small number of people, in scattered documentation, or in isolated code comments. And when that happens, the knowledge we rely on is always more fragile than we think.</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consider for a moment the situations many of us find ourselves in regularly. Perhaps you’ve brought a new PhD student onto your project, or a postdoc, or maybe you’ve asked for help from an RSE team. What happens next? Well, almost immediately - and quite understandably - they begin to ask you a set of very predictable, very reasonable questions.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Questions like:</a:t>
            </a:r>
          </a:p>
          <a:p>
            <a:pPr lvl="0" indent="0" marL="0">
              <a:buNone/>
            </a:pPr>
          </a:p>
          <a:p>
            <a:pPr lvl="0" indent="0" marL="0">
              <a:buNone/>
            </a:pPr>
            <a:r>
              <a:rPr/>
              <a:t>What does this software actually do? What scientific claim depends on it? What assumptions lie beneath the surface? Why does it exist? Who relies on it? What should they read or understand before they can contribute safely?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you’ve ever been in the position of answering these questions on the fly, you’ll know that it takes time. Sometimes lots of time, and the answers aren’t always written down anywhere. They might be scattered across old emails, issues, notes, or just “tribal memory” within the group.</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isn’t limited to new team members. The same questions come up when you’re speaking to colleagues in adjacent areas, or when you’re applying for funding, or even when you’re trying to remind yourself what you were doing six months ago after a period of leave or attending to other projects. Our research can move at quite a pace, and it’s very easy for context to become separated from the code that implements it.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let’s flip the perspective for a moment. Suppose that instead of leading a project, you’re the one being brought in to help. You’re the collaborator or the contractor arriving because something needs attention quickly. Maybe you’re an RSE brought in to help. Perhaps the software has reached a bottleneck, or needs reviewing, or needs extending. The very first thing you do in that scenario is ask those same foundational questions - what is this? What problem is it solving? Who depends on it? How does it underpin the science?</a:t>
            </a:r>
          </a:p>
          <a:p>
            <a:pPr lvl="0" indent="0" marL="0">
              <a:buNone/>
            </a:pPr>
          </a:p>
          <a:p>
            <a:pPr lvl="0" indent="0" marL="0">
              <a:buNone/>
            </a:pPr>
            <a:r>
              <a:rPr/>
              <a:t>Without clear answers, the first days or even weeks of work may become detective work rather than productive work.</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Lastly funders - this is something we don’t tend to think about - except in terms of how we interacted with them . However, the same sorts arise for them. When you apply for a grant that involves software, committees do want to know whether the software is credible, maintainable, and relevant. They want to know that you understand its context and that other people use it, rely on it, and/or benefit from it. They want to see plausibility and purpose. Without a clear narrative, it becomes much harder to communicate the value of the software: why it matters, whom it serves, and how it contributes to the research aims.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All of these examples point to a simple reality: many of the most important conversations about research software rely on having a clear understanding of the project that can be communicated quickly, reliably, and consistently. Without that, we lose time, risk misunderstandings, and make our own work harder to share and sustain.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the idea of a Research Software Story comes in.</a:t>
            </a:r>
          </a:p>
          <a:p>
            <a:pPr lvl="0" indent="0" marL="0">
              <a:buNone/>
            </a:pPr>
          </a:p>
          <a:p>
            <a:pPr lvl="0" indent="0" marL="0">
              <a:buNone/>
            </a:pPr>
            <a:r>
              <a:rPr/>
              <a:t>A Research Software Story is a short, structured narrative that captures the essentials of your project: what it does, who it serves, how it is developed, and how it supports your research. It’s not a technical manual. It’s not a full set of documentation. And it’s not a marketing document. Instead, it’s a way of answering, in one place, the questions that collaborators, funders, reviewers, and newcomers always ask - the questions that sit beneath the surface of almost every project discussion.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It’s also a way of organising your own thinking. The process of writing such a story encourages you to reflect on the current state of the project, the assumptions it that brought you there, its sustainability, and its connection to your research objectives. It can reveal gaps or strengths you hadn’t noticed. It can show you the difference between what’s known implicitly within your team and what’s communicated explicitly. It can guide you toward better practices without requiring you to overhaul everything all at once.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Today we’re going to explore how Research Software Stories are used within RSQKit. RSQKit will has started gathering examples of these and will be gathering examples of practices from across scientific domains - from physics and astronomy to life sciences, environmental modelling, digital humanities, and more. These stories are one part of that ecosystem. When shared, they help make visible the work that goes into developing good research software, and they help others learn from your experience.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my own work as an RSE and as someone who has spent many years in research environments, I’ve found that when such information are written well, it can save enormous amounts of time: time onboarding people, time explaining projects, time restarting paused work, and time establishing credibility in grant proposals. They can also help create more reproducible research by making assumptions visible and surfacing unanswered questions.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the aim of the first hour is to describe:</a:t>
            </a:r>
          </a:p>
          <a:p>
            <a:pPr lvl="0" indent="0" marL="0">
              <a:buNone/>
            </a:pPr>
          </a:p>
          <a:p>
            <a:pPr lvl="0" indent="0" marL="0">
              <a:buNone/>
            </a:pPr>
            <a:r>
              <a:rPr/>
              <a:t>• what these stories are • why they matter • how they can support your work • and how having standard RSQKit template helps structure them and make them more accessible.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the second hour, you’ll begin drafting one for your own project. You won’t need to finish it today; the aim is simply to give you the structured space to think through these questions and capture the essential points.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Lastly, the point I want to emphasise here is that this isn’t a bureaucratic exercise. It’s not another administrative burden. It’s a practical tool designed to make your research easier to conduct, easier to explain, and easier to sustain. It’s about strengthening your work, not adding random extra to it.</a:t>
            </a:r>
          </a:p>
          <a:p>
            <a:pPr lvl="0" indent="0" marL="0">
              <a:buNone/>
            </a:pPr>
          </a:p>
          <a:p>
            <a:pPr lvl="0" indent="0" marL="0">
              <a:buNone/>
            </a:pPr>
            <a:r>
              <a:rPr/>
              <a:t>And with that, let’s move into the next section: what Research Software Stories actually are.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l">
              <a:defRPr baseline="0">
                <a:latin typeface="Roboto" panose="02000000000000000000" pitchFamily="2" charset="0"/>
              </a:defRPr>
            </a:lvl1pPr>
          </a:lstStyle>
          <a:p>
            <a:r>
              <a:rPr lang="en-US" dirty="0"/>
              <a:t>Click to edit Master title style</a:t>
            </a:r>
          </a:p>
        </p:txBody>
      </p:sp>
      <p:sp>
        <p:nvSpPr>
          <p:cNvPr id="3" name="Subtitle 2"/>
          <p:cNvSpPr>
            <a:spLocks noGrp="1"/>
          </p:cNvSpPr>
          <p:nvPr>
            <p:ph type="subTitle" idx="1"/>
          </p:nvPr>
        </p:nvSpPr>
        <p:spPr>
          <a:xfrm>
            <a:off x="685800" y="2914650"/>
            <a:ext cx="6400800" cy="1314450"/>
          </a:xfrm>
        </p:spPr>
        <p:txBody>
          <a:bodyPr/>
          <a:lstStyle>
            <a:lvl1pPr marL="0" indent="0" algn="l">
              <a:buNone/>
              <a:defRPr baseline="0">
                <a:solidFill>
                  <a:schemeClr val="tx1"/>
                </a:solidFill>
                <a:latin typeface="Roboto Light" panose="02000000000000000000"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lvl1pPr algn="l">
              <a:defRPr baseline="0">
                <a:latin typeface="Roboto Light" panose="02000000000000000000" pitchFamily="2" charset="0"/>
              </a:defRPr>
            </a:lvl1pPr>
          </a:lstStyle>
          <a:p>
            <a:r>
              <a:rPr lang="en-US" dirty="0"/>
              <a:t>Click to edit Master title style</a:t>
            </a:r>
          </a:p>
        </p:txBody>
      </p:sp>
      <p:sp>
        <p:nvSpPr>
          <p:cNvPr id="3" name="Content Placeholder 2"/>
          <p:cNvSpPr>
            <a:spLocks noGrp="1"/>
          </p:cNvSpPr>
          <p:nvPr>
            <p:ph idx="1"/>
          </p:nvPr>
        </p:nvSpPr>
        <p:spPr>
          <a:xfrm>
            <a:off x="457200" y="1531917"/>
            <a:ext cx="8229600" cy="3062705"/>
          </a:xfrm>
        </p:spPr>
        <p:txBody>
          <a:bodyPr/>
          <a:lstStyle>
            <a:lvl1pPr>
              <a:defRPr sz="1800" baseline="0">
                <a:latin typeface="Roboto Light" panose="02000000000000000000" pitchFamily="2" charset="0"/>
              </a:defRPr>
            </a:lvl1pPr>
            <a:lvl2pPr>
              <a:defRPr sz="1800" baseline="0">
                <a:latin typeface="Roboto Light" panose="02000000000000000000" pitchFamily="2" charset="0"/>
              </a:defRPr>
            </a:lvl2pPr>
            <a:lvl3pPr>
              <a:defRPr sz="1800" baseline="0">
                <a:latin typeface="Roboto Light" panose="02000000000000000000" pitchFamily="2" charset="0"/>
              </a:defRPr>
            </a:lvl3pPr>
            <a:lvl4pPr>
              <a:defRPr sz="1800" baseline="0">
                <a:latin typeface="Roboto Light" panose="02000000000000000000" pitchFamily="2" charset="0"/>
              </a:defRPr>
            </a:lvl4pPr>
            <a:lvl5pPr>
              <a:defRPr sz="1800" baseline="0">
                <a:latin typeface="Roboto Light"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9" name="TextBox 8">
            <a:extLst>
              <a:ext uri="{FF2B5EF4-FFF2-40B4-BE49-F238E27FC236}">
                <a16:creationId xmlns:a16="http://schemas.microsoft.com/office/drawing/2014/main" id="{648DDAD8-9F94-7BB2-18E4-64F35EF11890}"/>
              </a:ext>
            </a:extLst>
          </p:cNvPr>
          <p:cNvSpPr txBox="1"/>
          <p:nvPr userDrawn="1"/>
        </p:nvSpPr>
        <p:spPr>
          <a:xfrm>
            <a:off x="3902529" y="4777227"/>
            <a:ext cx="5241471" cy="253916"/>
          </a:xfrm>
          <a:prstGeom prst="rect">
            <a:avLst/>
          </a:prstGeom>
          <a:noFill/>
        </p:spPr>
        <p:txBody>
          <a:bodyPr wrap="square">
            <a:spAutoFit/>
          </a:bodyPr>
          <a:lstStyle/>
          <a:p>
            <a:r>
              <a:rPr lang="en-US" sz="1050" baseline="0" dirty="0" err="1">
                <a:latin typeface="Roboto Light" panose="02000000000000000000" pitchFamily="2" charset="0"/>
              </a:rPr>
              <a:t>michael.sparks@manchester.ac.uk</a:t>
            </a:r>
            <a:r>
              <a:rPr lang="en-US" sz="1050" baseline="0" dirty="0">
                <a:latin typeface="Roboto Light" panose="02000000000000000000" pitchFamily="2" charset="0"/>
              </a:rPr>
              <a:t> - https://</a:t>
            </a:r>
            <a:r>
              <a:rPr lang="en-US" sz="1050" baseline="0" dirty="0" err="1">
                <a:latin typeface="Roboto Light" panose="02000000000000000000" pitchFamily="2" charset="0"/>
              </a:rPr>
              <a:t>www.linkedin.com</a:t>
            </a:r>
            <a:r>
              <a:rPr lang="en-US" sz="1050" baseline="0" dirty="0">
                <a:latin typeface="Roboto Light" panose="02000000000000000000" pitchFamily="2" charset="0"/>
              </a:rPr>
              <a:t>/in/</a:t>
            </a:r>
            <a:r>
              <a:rPr lang="en-US" sz="1050" baseline="0" dirty="0" err="1">
                <a:latin typeface="Roboto Light" panose="02000000000000000000" pitchFamily="2" charset="0"/>
              </a:rPr>
              <a:t>michael</a:t>
            </a:r>
            <a:r>
              <a:rPr lang="en-US" sz="1050" baseline="0" dirty="0">
                <a:latin typeface="Roboto Light" panose="02000000000000000000" pitchFamily="2" charset="0"/>
              </a:rPr>
              <a:t>-sparks-</a:t>
            </a:r>
            <a:r>
              <a:rPr lang="en-US" sz="1050" baseline="0" dirty="0" err="1">
                <a:latin typeface="Roboto Light" panose="02000000000000000000" pitchFamily="2" charset="0"/>
              </a:rPr>
              <a:t>uk</a:t>
            </a:r>
            <a:r>
              <a:rPr lang="en-US" sz="1050" baseline="0" dirty="0">
                <a:latin typeface="Roboto Light" panose="02000000000000000000" pitchFamily="2" charset="0"/>
              </a:rPr>
              <a:t>/</a:t>
            </a:r>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11/17/25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tinyurl.com/EVERSE202511-RSS" TargetMode="External" /><Relationship Id="rId4" Type="http://schemas.openxmlformats.org/officeDocument/2006/relationships/hyperlink" Target="https://github.com/sparkslabs/EVERSE-Seminar-Nov2025-ResearchSoftwareStories"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tinyurl.com/EVERSE202511-RSS"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hyperlink" Target="https://tinyurl.com/EVERSE202511-RS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Strengthen your Research by Telling Its Software Story</a:t>
            </a:r>
          </a:p>
        </p:txBody>
      </p:sp>
      <p:sp>
        <p:nvSpPr>
          <p:cNvPr id="3" name="Subtitle 2"/>
          <p:cNvSpPr>
            <a:spLocks noGrp="1"/>
          </p:cNvSpPr>
          <p:nvPr>
            <p:ph idx="1" type="subTitle"/>
          </p:nvPr>
        </p:nvSpPr>
        <p:spPr>
          <a:xfrm>
            <a:off x="685800" y="2914650"/>
            <a:ext cx="6400800" cy="1314450"/>
          </a:xfrm>
        </p:spPr>
        <p:txBody>
          <a:bodyPr/>
          <a:lstStyle/>
          <a:p>
            <a:pPr lvl="0" indent="0" marL="0">
              <a:buNone/>
            </a:pPr>
            <a:r>
              <a:rPr/>
              <a:t>1 - Introduction &amp; Context</a:t>
            </a:r>
            <a:br/>
            <a:br/>
            <a:r>
              <a:rPr/>
              <a:t>EVERSE Network Training, Michael Sparks (Nov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Welcome</a:t>
            </a:r>
          </a:p>
        </p:txBody>
      </p:sp>
      <p:sp>
        <p:nvSpPr>
          <p:cNvPr id="3" name="Content Placeholder 2"/>
          <p:cNvSpPr>
            <a:spLocks noGrp="1"/>
          </p:cNvSpPr>
          <p:nvPr>
            <p:ph idx="1"/>
          </p:nvPr>
        </p:nvSpPr>
        <p:spPr/>
        <p:txBody>
          <a:bodyPr/>
          <a:lstStyle/>
          <a:p>
            <a:pPr lvl="0"/>
            <a:r>
              <a:rPr/>
              <a:t>Thank you for joining us today.</a:t>
            </a:r>
          </a:p>
          <a:p>
            <a:pPr lvl="0"/>
            <a:r>
              <a:rPr/>
              <a:t>Today we explore how telling your software’s story supports your research.</a:t>
            </a:r>
          </a:p>
          <a:p>
            <a:pPr lvl="0" indent="0">
              <a:buNone/>
            </a:pPr>
            <a:r>
              <a:rPr>
                <a:latin typeface="UnTaza"/>
              </a:rPr>
              <a:t/>
            </a:r>
          </a:p>
          <a:p>
            <a:pPr lvl="0"/>
            <a:r>
              <a:rPr/>
              <a:t>Support Materials </a:t>
            </a:r>
            <a:r>
              <a:rPr>
                <a:hlinkClick r:id="rId3"/>
              </a:rPr>
              <a:t>https://tinyurl.com/EVERSE202511-RSS</a:t>
            </a:r>
          </a:p>
          <a:p>
            <a:pPr lvl="0"/>
            <a:r>
              <a:rPr>
                <a:hlinkClick r:id="rId4"/>
              </a:rPr>
              <a:t>https://github.com/sparkslabs/EVERSE-Seminar-Nov2025-ResearchSoftwareStories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Agenda</a:t>
            </a:r>
          </a:p>
        </p:txBody>
      </p:sp>
      <p:sp>
        <p:nvSpPr>
          <p:cNvPr id="3" name="Content Placeholder 2"/>
          <p:cNvSpPr>
            <a:spLocks noGrp="1"/>
          </p:cNvSpPr>
          <p:nvPr>
            <p:ph idx="1"/>
          </p:nvPr>
        </p:nvSpPr>
        <p:spPr/>
        <p:txBody>
          <a:bodyPr/>
          <a:lstStyle/>
          <a:p>
            <a:pPr lvl="0" indent="0" marL="0">
              <a:spcBef>
                <a:spcPts val="3000"/>
              </a:spcBef>
              <a:buNone/>
            </a:pPr>
            <a:r>
              <a:rPr b="1"/>
              <a:t>First Part</a:t>
            </a:r>
          </a:p>
          <a:p>
            <a:pPr lvl="0"/>
            <a:r>
              <a:rPr b="1" i="1"/>
              <a:t>1 Introduction and context</a:t>
            </a:r>
            <a:r>
              <a:rPr b="1"/>
              <a:t> &lt;– We are here</a:t>
            </a:r>
          </a:p>
          <a:p>
            <a:pPr lvl="0"/>
            <a:r>
              <a:rPr/>
              <a:t>2 What are Research Software Stories?</a:t>
            </a:r>
          </a:p>
          <a:p>
            <a:pPr lvl="0"/>
            <a:r>
              <a:rPr/>
              <a:t>3 Why write them + Q&amp;A</a:t>
            </a:r>
          </a:p>
          <a:p>
            <a:pPr lvl="0"/>
            <a:r>
              <a:rPr/>
              <a:t>4 How we write them - Template walkthrough</a:t>
            </a:r>
          </a:p>
          <a:p>
            <a:pPr lvl="0" indent="0" marL="0">
              <a:spcBef>
                <a:spcPts val="3000"/>
              </a:spcBef>
              <a:buNone/>
            </a:pPr>
            <a:r>
              <a:rPr b="1"/>
              <a:t>Second Part</a:t>
            </a:r>
          </a:p>
          <a:p>
            <a:pPr lvl="0"/>
            <a:r>
              <a:rPr/>
              <a:t>Guided Writing Session</a:t>
            </a:r>
          </a:p>
          <a:p>
            <a:pPr lvl="0"/>
            <a:r>
              <a:rPr/>
              <a:t>Discussion, Q&amp;A</a:t>
            </a:r>
          </a:p>
          <a:p>
            <a:pPr lvl="0"/>
            <a:r>
              <a:rPr/>
              <a:t>Support Materials </a:t>
            </a:r>
            <a:r>
              <a:rPr>
                <a:hlinkClick r:id="rId3"/>
              </a:rPr>
              <a:t>https://tinyurl.com/EVERSE202511-RSS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Section 1 - Introduction &amp; Context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Housekeeping</a:t>
            </a:r>
          </a:p>
        </p:txBody>
      </p:sp>
      <p:sp>
        <p:nvSpPr>
          <p:cNvPr id="3" name="Content Placeholder 2"/>
          <p:cNvSpPr>
            <a:spLocks noGrp="1"/>
          </p:cNvSpPr>
          <p:nvPr>
            <p:ph idx="1"/>
          </p:nvPr>
        </p:nvSpPr>
        <p:spPr/>
        <p:txBody>
          <a:bodyPr/>
          <a:lstStyle/>
          <a:p>
            <a:pPr lvl="0"/>
            <a:r>
              <a:rPr/>
              <a:t>Session is recorded for later viewing.</a:t>
            </a:r>
          </a:p>
          <a:p>
            <a:pPr lvl="0"/>
            <a:r>
              <a:rPr/>
              <a:t>Cameras: on/off as you prefer.</a:t>
            </a:r>
          </a:p>
          <a:p>
            <a:pPr lvl="0"/>
            <a:r>
              <a:rPr/>
              <a:t>Microphones: please mute most of the time</a:t>
            </a:r>
          </a:p>
          <a:p>
            <a:pPr lvl="0"/>
            <a:r>
              <a:rPr/>
              <a:t>Feel to use the chat</a:t>
            </a:r>
          </a:p>
          <a:p>
            <a:pPr lvl="1"/>
            <a:r>
              <a:rPr/>
              <a:t>to say where you’re from etc</a:t>
            </a:r>
          </a:p>
          <a:p>
            <a:pPr lvl="1"/>
            <a:r>
              <a:rPr/>
              <a:t>What you’re hoping from this session</a:t>
            </a:r>
          </a:p>
          <a:p>
            <a:pPr lvl="0"/>
            <a:r>
              <a:rPr/>
              <a:t>Please put </a:t>
            </a:r>
            <a:r>
              <a:rPr b="1"/>
              <a:t>questions in the Q&amp;A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Structure</a:t>
            </a:r>
          </a:p>
        </p:txBody>
      </p:sp>
      <p:sp>
        <p:nvSpPr>
          <p:cNvPr id="3" name="Content Placeholder 2"/>
          <p:cNvSpPr>
            <a:spLocks noGrp="1"/>
          </p:cNvSpPr>
          <p:nvPr>
            <p:ph idx="1"/>
          </p:nvPr>
        </p:nvSpPr>
        <p:spPr/>
        <p:txBody>
          <a:bodyPr/>
          <a:lstStyle/>
          <a:p>
            <a:pPr lvl="0"/>
            <a:r>
              <a:rPr/>
              <a:t>Two-hour session: introduction + guided writing.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Who am I?</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EVERSE &amp; RSQKit</a:t>
            </a:r>
          </a:p>
        </p:txBody>
      </p:sp>
      <p:sp>
        <p:nvSpPr>
          <p:cNvPr id="3" name="Content Placeholder 2"/>
          <p:cNvSpPr>
            <a:spLocks noGrp="1"/>
          </p:cNvSpPr>
          <p:nvPr>
            <p:ph idx="1"/>
          </p:nvPr>
        </p:nvSpPr>
        <p:spPr/>
        <p:txBody>
          <a:bodyPr/>
          <a:lstStyle/>
          <a:p>
            <a:pPr lvl="0"/>
            <a:r>
              <a:rPr/>
              <a:t>Joined EVERSE &amp; University of Manchester earlier this year</a:t>
            </a:r>
          </a:p>
          <a:p>
            <a:pPr lvl="0"/>
            <a:r>
              <a:rPr/>
              <a:t>EVERSE’S core goal is to improve the quality of research across the EU science clusters by increasing the quality of the research software that underpins that research</a:t>
            </a:r>
          </a:p>
          <a:p>
            <a:pPr lvl="0"/>
            <a:r>
              <a:rPr/>
              <a:t>RSQKit is one of the means to that end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This Matters</a:t>
            </a:r>
          </a:p>
        </p:txBody>
      </p:sp>
      <p:sp>
        <p:nvSpPr>
          <p:cNvPr id="3" name="Content Placeholder 2"/>
          <p:cNvSpPr>
            <a:spLocks noGrp="1"/>
          </p:cNvSpPr>
          <p:nvPr>
            <p:ph idx="1"/>
          </p:nvPr>
        </p:nvSpPr>
        <p:spPr/>
        <p:txBody>
          <a:bodyPr/>
          <a:lstStyle/>
          <a:p>
            <a:pPr lvl="0" indent="0" marL="0">
              <a:buNone/>
            </a:pPr>
            <a:r>
              <a:rPr/>
              <a:t>If you care about reproducibility, onboarding, or the ability to restart your research after a gap, then a clear understanding of your software is one of the most practical tools you have.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Research Software Is Embedded</a:t>
            </a:r>
          </a:p>
        </p:txBody>
      </p:sp>
      <p:sp>
        <p:nvSpPr>
          <p:cNvPr id="3" name="Content Placeholder 2"/>
          <p:cNvSpPr>
            <a:spLocks noGrp="1"/>
          </p:cNvSpPr>
          <p:nvPr>
            <p:ph idx="1"/>
          </p:nvPr>
        </p:nvSpPr>
        <p:spPr/>
        <p:txBody>
          <a:bodyPr/>
          <a:lstStyle/>
          <a:p>
            <a:pPr lvl="0"/>
            <a:r>
              <a:rPr/>
              <a:t>Analysis, simulation, modelling, workflows.</a:t>
            </a:r>
          </a:p>
          <a:p>
            <a:pPr lvl="0"/>
            <a:r>
              <a:rPr/>
              <a:t>Practices often remain hidden.</a:t>
            </a:r>
          </a:p>
          <a:p>
            <a:pPr lvl="0"/>
            <a:r>
              <a:rPr/>
              <a:t>Knowledge can become fragile.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When People Join Your Project</a:t>
            </a:r>
          </a:p>
        </p:txBody>
      </p:sp>
      <p:sp>
        <p:nvSpPr>
          <p:cNvPr id="3" name="Content Placeholder 2"/>
          <p:cNvSpPr>
            <a:spLocks noGrp="1"/>
          </p:cNvSpPr>
          <p:nvPr>
            <p:ph idx="1"/>
          </p:nvPr>
        </p:nvSpPr>
        <p:spPr/>
        <p:txBody>
          <a:bodyPr/>
          <a:lstStyle/>
          <a:p>
            <a:pPr lvl="0"/>
            <a:r>
              <a:rPr/>
              <a:t>New PhD students, postdocs, RSEs.</a:t>
            </a:r>
          </a:p>
          <a:p>
            <a:pPr lvl="0"/>
            <a:r>
              <a:rPr/>
              <a:t>They ask predictable, reasonable questions:</a:t>
            </a:r>
          </a:p>
          <a:p>
            <a:pPr lvl="0"/>
            <a:r>
              <a:rPr/>
              <a:t>What does this do?</a:t>
            </a:r>
          </a:p>
          <a:p>
            <a:pPr lvl="0"/>
            <a:r>
              <a:rPr/>
              <a:t>Why does it exist?</a:t>
            </a:r>
          </a:p>
          <a:p>
            <a:pPr lvl="0"/>
            <a:r>
              <a:rPr/>
              <a:t>Who relies on it?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Questions People Ask</a:t>
            </a:r>
          </a:p>
        </p:txBody>
      </p:sp>
      <p:sp>
        <p:nvSpPr>
          <p:cNvPr id="3" name="Content Placeholder 2"/>
          <p:cNvSpPr>
            <a:spLocks noGrp="1"/>
          </p:cNvSpPr>
          <p:nvPr>
            <p:ph idx="1"/>
          </p:nvPr>
        </p:nvSpPr>
        <p:spPr/>
        <p:txBody>
          <a:bodyPr/>
          <a:lstStyle/>
          <a:p>
            <a:pPr lvl="0"/>
            <a:r>
              <a:rPr/>
              <a:t>What scientific claim depends on it?</a:t>
            </a:r>
          </a:p>
          <a:p>
            <a:pPr lvl="0"/>
            <a:r>
              <a:rPr/>
              <a:t>What assumptions lie beneath the surface?</a:t>
            </a:r>
          </a:p>
          <a:p>
            <a:pPr lvl="0"/>
            <a:r>
              <a:rPr/>
              <a:t>What must they understand to contribute safely?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Answering These Questions Takes Time</a:t>
            </a:r>
          </a:p>
        </p:txBody>
      </p:sp>
      <p:sp>
        <p:nvSpPr>
          <p:cNvPr id="3" name="Content Placeholder 2"/>
          <p:cNvSpPr>
            <a:spLocks noGrp="1"/>
          </p:cNvSpPr>
          <p:nvPr>
            <p:ph idx="1"/>
          </p:nvPr>
        </p:nvSpPr>
        <p:spPr/>
        <p:txBody>
          <a:bodyPr/>
          <a:lstStyle/>
          <a:p>
            <a:pPr lvl="0"/>
            <a:r>
              <a:rPr/>
              <a:t>Answers often live in emails, issues, memories.</a:t>
            </a:r>
          </a:p>
          <a:p>
            <a:pPr lvl="0"/>
            <a:r>
              <a:rPr/>
              <a:t>“Tribal memory” makes projects fragile.</a:t>
            </a:r>
          </a:p>
          <a:p>
            <a:pPr lvl="0"/>
            <a:r>
              <a:rPr/>
              <a:t>Context easily becomes separated from code.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This Isn’t Just About Newcomers</a:t>
            </a:r>
          </a:p>
        </p:txBody>
      </p:sp>
      <p:sp>
        <p:nvSpPr>
          <p:cNvPr id="3" name="Content Placeholder 2"/>
          <p:cNvSpPr>
            <a:spLocks noGrp="1"/>
          </p:cNvSpPr>
          <p:nvPr>
            <p:ph idx="1"/>
          </p:nvPr>
        </p:nvSpPr>
        <p:spPr/>
        <p:txBody>
          <a:bodyPr/>
          <a:lstStyle/>
          <a:p>
            <a:pPr lvl="0"/>
            <a:r>
              <a:rPr/>
              <a:t>Adjacent colleagues ask the same questions.</a:t>
            </a:r>
          </a:p>
          <a:p>
            <a:pPr lvl="0"/>
            <a:r>
              <a:rPr/>
              <a:t>Grant writing requires clear software context.</a:t>
            </a:r>
          </a:p>
          <a:p>
            <a:pPr lvl="0"/>
            <a:r>
              <a:rPr/>
              <a:t>Returning after months away reveals gaps.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Flip the Perspective</a:t>
            </a:r>
          </a:p>
        </p:txBody>
      </p:sp>
      <p:sp>
        <p:nvSpPr>
          <p:cNvPr id="3" name="Content Placeholder 2"/>
          <p:cNvSpPr>
            <a:spLocks noGrp="1"/>
          </p:cNvSpPr>
          <p:nvPr>
            <p:ph idx="1"/>
          </p:nvPr>
        </p:nvSpPr>
        <p:spPr/>
        <p:txBody>
          <a:bodyPr/>
          <a:lstStyle/>
          <a:p>
            <a:pPr lvl="0"/>
            <a:r>
              <a:rPr/>
              <a:t>Imagine </a:t>
            </a:r>
            <a:r>
              <a:rPr i="1"/>
              <a:t>you</a:t>
            </a:r>
            <a:r>
              <a:rPr/>
              <a:t> are the one brought in to help.</a:t>
            </a:r>
          </a:p>
          <a:p>
            <a:pPr lvl="0"/>
            <a:r>
              <a:rPr/>
              <a:t>You immediately ask the same foundational questions.</a:t>
            </a:r>
          </a:p>
          <a:p>
            <a:pPr lvl="0"/>
            <a:r>
              <a:rPr/>
              <a:t>Without answers, early work becomes detective work.</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Funders Think This Way Too</a:t>
            </a:r>
          </a:p>
        </p:txBody>
      </p:sp>
      <p:sp>
        <p:nvSpPr>
          <p:cNvPr id="3" name="Content Placeholder 2"/>
          <p:cNvSpPr>
            <a:spLocks noGrp="1"/>
          </p:cNvSpPr>
          <p:nvPr>
            <p:ph idx="1"/>
          </p:nvPr>
        </p:nvSpPr>
        <p:spPr/>
        <p:txBody>
          <a:bodyPr/>
          <a:lstStyle/>
          <a:p>
            <a:pPr lvl="0"/>
            <a:r>
              <a:rPr/>
              <a:t>Committees need clarity, credibility, relevance.</a:t>
            </a:r>
          </a:p>
          <a:p>
            <a:pPr lvl="0"/>
            <a:r>
              <a:rPr/>
              <a:t>They want to see context and community need.</a:t>
            </a:r>
          </a:p>
          <a:p>
            <a:pPr lvl="0"/>
            <a:r>
              <a:rPr/>
              <a:t>Plausibility and purpose matter.</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A Simple Reality</a:t>
            </a:r>
          </a:p>
        </p:txBody>
      </p:sp>
      <p:sp>
        <p:nvSpPr>
          <p:cNvPr id="3" name="Content Placeholder 2"/>
          <p:cNvSpPr>
            <a:spLocks noGrp="1"/>
          </p:cNvSpPr>
          <p:nvPr>
            <p:ph idx="1"/>
          </p:nvPr>
        </p:nvSpPr>
        <p:spPr/>
        <p:txBody>
          <a:bodyPr/>
          <a:lstStyle/>
          <a:p>
            <a:pPr lvl="0" indent="0" marL="0">
              <a:buNone/>
            </a:pPr>
            <a:r>
              <a:rPr/>
              <a:t>Many important conversations about research software depend on having a clear, reliable, quickly-communicable understanding of the project.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Introducing Research Software Stories</a:t>
            </a:r>
          </a:p>
        </p:txBody>
      </p:sp>
      <p:sp>
        <p:nvSpPr>
          <p:cNvPr id="3" name="Content Placeholder 2"/>
          <p:cNvSpPr>
            <a:spLocks noGrp="1"/>
          </p:cNvSpPr>
          <p:nvPr>
            <p:ph idx="1"/>
          </p:nvPr>
        </p:nvSpPr>
        <p:spPr/>
        <p:txBody>
          <a:bodyPr/>
          <a:lstStyle/>
          <a:p>
            <a:pPr lvl="0"/>
            <a:r>
              <a:rPr/>
              <a:t>A short, structured narrative capturing what the software does, who it serves, how it supports research, and how it is developed.</a:t>
            </a:r>
          </a:p>
          <a:p>
            <a:pPr lvl="0"/>
            <a:r>
              <a:rPr/>
              <a:t>A way to answer the fundamental questions collaborators always ask.</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Stories Help</a:t>
            </a:r>
          </a:p>
        </p:txBody>
      </p:sp>
      <p:sp>
        <p:nvSpPr>
          <p:cNvPr id="3" name="Content Placeholder 2"/>
          <p:cNvSpPr>
            <a:spLocks noGrp="1"/>
          </p:cNvSpPr>
          <p:nvPr>
            <p:ph idx="1"/>
          </p:nvPr>
        </p:nvSpPr>
        <p:spPr/>
        <p:txBody>
          <a:bodyPr/>
          <a:lstStyle/>
          <a:p>
            <a:pPr lvl="0"/>
            <a:r>
              <a:rPr/>
              <a:t>Organise your own thinking.</a:t>
            </a:r>
          </a:p>
          <a:p>
            <a:pPr lvl="0"/>
            <a:r>
              <a:rPr/>
              <a:t>Reveal assumptions and gaps.</a:t>
            </a:r>
          </a:p>
          <a:p>
            <a:pPr lvl="0"/>
            <a:r>
              <a:rPr/>
              <a:t>Make implicit knowledge explicit.</a:t>
            </a:r>
          </a:p>
          <a:p>
            <a:pPr lvl="0"/>
            <a:r>
              <a:rPr/>
              <a:t>Guide sustainable improvement.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RSQKit and Stories</a:t>
            </a:r>
          </a:p>
        </p:txBody>
      </p:sp>
      <p:sp>
        <p:nvSpPr>
          <p:cNvPr id="3" name="Content Placeholder 2"/>
          <p:cNvSpPr>
            <a:spLocks noGrp="1"/>
          </p:cNvSpPr>
          <p:nvPr>
            <p:ph idx="1"/>
          </p:nvPr>
        </p:nvSpPr>
        <p:spPr/>
        <p:txBody>
          <a:bodyPr/>
          <a:lstStyle/>
          <a:p>
            <a:pPr lvl="0"/>
            <a:r>
              <a:rPr/>
              <a:t>Stories are part of the Research Software Quality Toolkit.</a:t>
            </a:r>
          </a:p>
          <a:p>
            <a:pPr lvl="0"/>
            <a:r>
              <a:rPr/>
              <a:t>RSQKit gathers practices across scientific domains.</a:t>
            </a:r>
          </a:p>
          <a:p>
            <a:pPr lvl="0"/>
            <a:r>
              <a:rPr/>
              <a:t>Stories make quality work visible and learnable.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Stories Save Time</a:t>
            </a:r>
          </a:p>
        </p:txBody>
      </p:sp>
      <p:sp>
        <p:nvSpPr>
          <p:cNvPr id="3" name="Content Placeholder 2"/>
          <p:cNvSpPr>
            <a:spLocks noGrp="1"/>
          </p:cNvSpPr>
          <p:nvPr>
            <p:ph idx="1"/>
          </p:nvPr>
        </p:nvSpPr>
        <p:spPr/>
        <p:txBody>
          <a:bodyPr/>
          <a:lstStyle/>
          <a:p>
            <a:pPr lvl="0"/>
            <a:r>
              <a:rPr/>
              <a:t>Faster onboarding</a:t>
            </a:r>
          </a:p>
          <a:p>
            <a:pPr lvl="0"/>
            <a:r>
              <a:rPr/>
              <a:t>Fewer repeated explanations</a:t>
            </a:r>
          </a:p>
          <a:p>
            <a:pPr lvl="0"/>
            <a:r>
              <a:rPr/>
              <a:t>Easier project restarts</a:t>
            </a:r>
          </a:p>
          <a:p>
            <a:pPr lvl="0"/>
            <a:r>
              <a:rPr/>
              <a:t>Stronger credibility in grants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This Hour Covers</a:t>
            </a:r>
          </a:p>
        </p:txBody>
      </p:sp>
      <p:sp>
        <p:nvSpPr>
          <p:cNvPr id="3" name="Content Placeholder 2"/>
          <p:cNvSpPr>
            <a:spLocks noGrp="1"/>
          </p:cNvSpPr>
          <p:nvPr>
            <p:ph idx="1"/>
          </p:nvPr>
        </p:nvSpPr>
        <p:spPr/>
        <p:txBody>
          <a:bodyPr/>
          <a:lstStyle/>
          <a:p>
            <a:pPr lvl="0"/>
            <a:r>
              <a:rPr/>
              <a:t>What stories are</a:t>
            </a:r>
          </a:p>
          <a:p>
            <a:pPr lvl="0"/>
            <a:r>
              <a:rPr/>
              <a:t>Why they matter</a:t>
            </a:r>
          </a:p>
          <a:p>
            <a:pPr lvl="0"/>
            <a:r>
              <a:rPr/>
              <a:t>How they support research</a:t>
            </a:r>
          </a:p>
          <a:p>
            <a:pPr lvl="0"/>
            <a:r>
              <a:rPr/>
              <a:t>How the template structures them</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the Next Hour Will Do</a:t>
            </a:r>
          </a:p>
        </p:txBody>
      </p:sp>
      <p:sp>
        <p:nvSpPr>
          <p:cNvPr id="3" name="Content Placeholder 2"/>
          <p:cNvSpPr>
            <a:spLocks noGrp="1"/>
          </p:cNvSpPr>
          <p:nvPr>
            <p:ph idx="1"/>
          </p:nvPr>
        </p:nvSpPr>
        <p:spPr/>
        <p:txBody>
          <a:bodyPr/>
          <a:lstStyle/>
          <a:p>
            <a:pPr lvl="0" indent="0" marL="0">
              <a:buNone/>
            </a:pPr>
            <a:r>
              <a:rPr/>
              <a:t>You will begin drafting your own story.</a:t>
            </a:r>
          </a:p>
          <a:p>
            <a:pPr lvl="0" indent="0" marL="0">
              <a:buNone/>
            </a:pPr>
            <a:r>
              <a:rPr/>
              <a:t>You don’t need to finish - the goal is structured thinking and capturing essentials.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Not Bureaucracy - A Practical Tool</a:t>
            </a:r>
          </a:p>
        </p:txBody>
      </p:sp>
      <p:sp>
        <p:nvSpPr>
          <p:cNvPr id="3" name="Content Placeholder 2"/>
          <p:cNvSpPr>
            <a:spLocks noGrp="1"/>
          </p:cNvSpPr>
          <p:nvPr>
            <p:ph idx="1"/>
          </p:nvPr>
        </p:nvSpPr>
        <p:spPr/>
        <p:txBody>
          <a:bodyPr/>
          <a:lstStyle/>
          <a:p>
            <a:pPr lvl="0" indent="0" marL="0">
              <a:buNone/>
            </a:pPr>
            <a:r>
              <a:rPr/>
              <a:t>Lastly, this isn’t paperwork. It’s a tool to make your research easier to conduct, explain, and sustain.</a:t>
            </a:r>
          </a:p>
          <a:p>
            <a:pPr lvl="0" indent="0">
              <a:buNone/>
            </a:pPr>
            <a:r>
              <a:rPr>
                <a:latin typeface="UnTaza"/>
              </a:rPr>
              <a:t/>
            </a:r>
          </a:p>
          <a:p>
            <a:pPr lvl="0"/>
            <a:r>
              <a:rPr/>
              <a:t>Support Materials </a:t>
            </a:r>
            <a:r>
              <a:rPr>
                <a:hlinkClick r:id="rId3"/>
              </a:rPr>
              <a:t>https://tinyurl.com/EVERSE202511-RSS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1159</Words>
  <Application>Microsoft Macintosh PowerPoint</Application>
  <PresentationFormat>On-screen Show (16:9)</PresentationFormat>
  <Paragraphs>232</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Roboto</vt:lpstr>
      <vt:lpstr>Roboto Light</vt:lpstr>
      <vt:lpstr>Office Theme</vt:lpstr>
      <vt:lpstr>Strengthen your Research by Telling Its Software Story</vt:lpstr>
      <vt:lpstr>Why the Template Matters</vt:lpstr>
      <vt:lpstr>What We’re Doing in This Walkthrough</vt:lpstr>
      <vt:lpstr>First Impression: “This Looks Like a Lot”</vt:lpstr>
      <vt:lpstr>The Template as a Thinking Tool</vt:lpstr>
      <vt:lpstr>Section 1: The Problem</vt:lpstr>
      <vt:lpstr>Why “The Problem” Matters</vt:lpstr>
      <vt:lpstr>What To Write Here</vt:lpstr>
      <vt:lpstr>Section 2: The Community</vt:lpstr>
      <vt:lpstr>What This Section Reveals</vt:lpstr>
      <vt:lpstr>Why This Section Matters</vt:lpstr>
      <vt:lpstr>Section 3: Technical Aspects</vt:lpstr>
      <vt:lpstr>What Goes Here</vt:lpstr>
      <vt:lpstr>Why This Helps Readers</vt:lpstr>
      <vt:lpstr>Section 3a: Libraries &amp; Systems</vt:lpstr>
      <vt:lpstr>What This Tells People</vt:lpstr>
      <vt:lpstr>Section 4: Software Practices</vt:lpstr>
      <vt:lpstr>What To Include</vt:lpstr>
      <vt:lpstr>Why Practices Matter</vt:lpstr>
      <vt:lpstr>Section 5: Community (Adoption &amp; Onboarding)</vt:lpstr>
      <vt:lpstr>What Goes Here</vt:lpstr>
      <vt:lpstr>Why This Section Is Valuable</vt:lpstr>
      <vt:lpstr>Section 6: Tools</vt:lpstr>
      <vt:lpstr>What To Describe</vt:lpstr>
      <vt:lpstr>Why Tools Matter</vt:lpstr>
      <vt:lpstr>Link to RSQKit</vt:lpstr>
      <vt:lpstr>Section 7: FAIR &amp; Open</vt:lpstr>
      <vt:lpstr>FAIR: What To Address</vt:lpstr>
      <vt:lpstr>Open: What To Address</vt:lpstr>
      <vt:lpstr>Why FAIR &amp; Open Matter</vt:lpstr>
      <vt:lpstr>Section 8: Documentation</vt:lpstr>
      <vt:lpstr>What To Describe</vt:lpstr>
      <vt:lpstr>The Key Message</vt:lpstr>
      <vt:lpstr>Section 9: Sustainability</vt:lpstr>
      <vt:lpstr>What Goes Here</vt:lpstr>
      <vt:lpstr>Why Sustainability Matters</vt:lpstr>
      <vt:lpstr>Section 10: References</vt:lpstr>
      <vt:lpstr>What References Show</vt:lpstr>
      <vt:lpstr>Bringing It All Together</vt:lpstr>
      <vt:lpstr>What This Template Really Does</vt:lpstr>
      <vt:lpstr>The Aim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Strengthen your Research by Telling Its Software Story</dc:title>
  <dc:creator>EVERSE Network Training, Michael Sparks (Nov 2025)</dc:creator>
  <cp:keywords/>
  <dcterms:created xsi:type="dcterms:W3CDTF">2025-11-18T11:54:21Z</dcterms:created>
  <dcterms:modified xsi:type="dcterms:W3CDTF">2025-11-18T11:54:21Z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classoption">
    <vt:lpwstr>t</vt:lpwstr>
  </property>
  <property fmtid="{D5CDD505-2E9C-101B-9397-08002B2CF9AE}" pid="4" name="colorlinks">
    <vt:lpwstr>True</vt:lpwstr>
  </property>
  <property fmtid="{D5CDD505-2E9C-101B-9397-08002B2CF9AE}" pid="5" name="colortheme">
    <vt:lpwstr>dolphin</vt:lpwstr>
  </property>
  <property fmtid="{D5CDD505-2E9C-101B-9397-08002B2CF9AE}" pid="6" name="fontsize">
    <vt:lpwstr>10pt</vt:lpwstr>
  </property>
  <property fmtid="{D5CDD505-2E9C-101B-9397-08002B2CF9AE}" pid="7" name="header-includes">
    <vt:lpwstr/>
  </property>
  <property fmtid="{D5CDD505-2E9C-101B-9397-08002B2CF9AE}" pid="8" name="linestretch">
    <vt:lpwstr>1</vt:lpwstr>
  </property>
  <property fmtid="{D5CDD505-2E9C-101B-9397-08002B2CF9AE}" pid="9" name="linkcolor">
    <vt:lpwstr>blue</vt:lpwstr>
  </property>
  <property fmtid="{D5CDD505-2E9C-101B-9397-08002B2CF9AE}" pid="10" name="linkstyle">
    <vt:lpwstr>bold</vt:lpwstr>
  </property>
  <property fmtid="{D5CDD505-2E9C-101B-9397-08002B2CF9AE}" pid="11" name="mainfont">
    <vt:lpwstr>LiberationSerif-Regular</vt:lpwstr>
  </property>
  <property fmtid="{D5CDD505-2E9C-101B-9397-08002B2CF9AE}" pid="12" name="mainfontoptions">
    <vt:lpwstr/>
  </property>
  <property fmtid="{D5CDD505-2E9C-101B-9397-08002B2CF9AE}" pid="13" name="monofont">
    <vt:lpwstr>UnTaza</vt:lpwstr>
  </property>
  <property fmtid="{D5CDD505-2E9C-101B-9397-08002B2CF9AE}" pid="14" name="monofontoptions">
    <vt:lpwstr/>
  </property>
  <property fmtid="{D5CDD505-2E9C-101B-9397-08002B2CF9AE}" pid="15" name="output">
    <vt:lpwstr>beamer_presentation</vt:lpwstr>
  </property>
  <property fmtid="{D5CDD505-2E9C-101B-9397-08002B2CF9AE}" pid="16" name="papersize">
    <vt:lpwstr>a4</vt:lpwstr>
  </property>
  <property fmtid="{D5CDD505-2E9C-101B-9397-08002B2CF9AE}" pid="17" name="pdf-engine">
    <vt:lpwstr>xelatex</vt:lpwstr>
  </property>
  <property fmtid="{D5CDD505-2E9C-101B-9397-08002B2CF9AE}" pid="18" name="subtitle">
    <vt:lpwstr>1 - Introduction &amp; Context</vt:lpwstr>
  </property>
  <property fmtid="{D5CDD505-2E9C-101B-9397-08002B2CF9AE}" pid="19" name="theme">
    <vt:lpwstr>Madrid</vt:lpwstr>
  </property>
  <property fmtid="{D5CDD505-2E9C-101B-9397-08002B2CF9AE}" pid="20" name="toc">
    <vt:lpwstr>False</vt:lpwstr>
  </property>
  <property fmtid="{D5CDD505-2E9C-101B-9397-08002B2CF9AE}" pid="21" name="urlcolor">
    <vt:lpwstr>red</vt:lpwstr>
  </property>
</Properties>
</file>