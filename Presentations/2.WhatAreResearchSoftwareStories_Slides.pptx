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7216"/>
    <p:restoredTop autoAdjust="0" sz="96354"/>
  </p:normalViewPr>
  <p:slideViewPr>
    <p:cSldViewPr snapToGrid="0" snapToObjects="1">
      <p:cViewPr>
        <p:scale>
          <a:sx d="100" n="156"/>
          <a:sy d="100" n="156"/>
        </p:scale>
        <p:origin x="248" y="44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notesMaster" Target="notesMasters/notesMaster1.xml" /><Relationship Id="rId26" Type="http://schemas.openxmlformats.org/officeDocument/2006/relationships/tableStyles" Target="tableStyles.xml" /><Relationship Id="rId1" Type="http://schemas.openxmlformats.org/officeDocument/2006/relationships/slideMaster" Target="slideMasters/slideMaster1.xml" /><Relationship Id="rId24" Type="http://schemas.openxmlformats.org/officeDocument/2006/relationships/viewProps" Target="viewProps.xml" /><Relationship Id="rId23" Type="http://schemas.openxmlformats.org/officeDocument/2006/relationships/presProps" Target="presProps.xml" /><Relationship Id="rId25"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11/17/25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Moving 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that we’ve set the context, let’s talk more directly about what a Research Software Story actually is. You’ve heard the general idea, but for the next ten minutes I want to give you a more concrete, grounded sense of what these stories actually look like, why they are structured the way they are, and what makes them useful in practice - not just in theory.</a:t>
            </a:r>
          </a:p>
          <a:p>
            <a:pPr lvl="0" indent="0" marL="0">
              <a:buNone/>
            </a:pPr>
          </a:p>
          <a:p>
            <a:pPr lvl="0" indent="0" marL="0">
              <a:buNone/>
            </a:pPr>
            <a:r>
              <a:rPr/>
              <a:t>Briefly, I’ll show you Baler’s from RSQKit. https://everse.software/RSQKit/baler_research_software_story</a:t>
            </a:r>
          </a:p>
          <a:p>
            <a:pPr lvl="0" indent="0" marL="0">
              <a:buNone/>
            </a:pPr>
          </a:p>
          <a:p>
            <a:pPr lvl="0"/>
            <a:r>
              <a:rPr/>
              <a:t>Support Materials https://tinyurl.com/EVERSE202511-RSS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of us, when we think about describing our software, jump instinctively to technical documentation: installation notes, dependencies, API references, maybe a workflow diagram if we’re feeling ambitious. Those things are important, of course, and they all serve a purpose. But technical documentation is usually aimed at someone who already knows they want to use the software. It doesn’t really answer the bigger questions of why the software matters, or how it fits into the research, or what decisions shaped its development. And it certainly doesn’t help someone who needs to understand the project at a conceptual level before they work with you.</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Research Software Story fills that gap. It’s a short, structured narrative that captures the key elements of a project in a way that is easy to read, easy to share, and easy to refer back to. Think of it as a cross between an abstract, a project brief, and a bit of institutional memory - all rolled into one concise document.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term “story” can sound slightly unusual at first, especially in a scientific context where we’re used to analysis, structure, and evidence rather than narrative. But the point of calling it a story isn’t to make it literary or dramatic. It’s to encourage us to step back from the code and ask a more fundamental question: what is the shape of this project? What problem is it trying to solve? Who depends on it? What assumptions does it make? How does it support the research?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all narrative questions. Not fictional narrative, but explanatory narrative - the narrative of a research project, expressed clearly and without jargon.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one of the reasons Research Software Stories work so well is that they have a very consistent structure. They’re built around a template that RSQKit uses - a template that was deliberately designed to work across scientific domains. That means it’s not tailored for physics or biology or climate science or humanities computing. It’s deliberately generic so that the same kind of questions can be asked of any project, regardless of the domain or scale.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what are the key elements of a story? Let me walk you through them at a high level.</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section is the Problem. This is where you articulate the scientific or technical challenge that your software addresses. Every project begins with a problem, but we rarely write it down clearly. Over time, it becomes implicit, embedded in the code or the workflow. This section brings it back to the surface. It’s surprisingly revealing: sometimes the problem today is not exactly the same as the problem the software was originally built to solve. That gap is important to recognise.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Next is the Community - the people who develop the software and the people who use it. This isn’t just a list of names. It’s about understanding the relationships and the roles. Is it built by a single PI and one PhD student? Is it maintained by an RSE team? Does it have external contributors? Are there distinct user groups? Who relies on the outputs? This part is crucial because software is fundamentally a social activity. Most problems in software are not technical; they’re organisational or communicative. Understanding who is involved - and who is missing - is often half the battle.</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Then we have the Technical Aspects. This is where you describe the core technologies: languages, frameworks, dependencies, operating environments, data models, and so on. It’s not meant to be exhaustive. You’re not listing every version number or every library. Instead, you highlight the things that define how the software works and what constraints it lives under. This is usually the shortest section, and yet it provides essential context. It tells readers what kind of ecosystem the project sits in.:::</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After that comes Software Practices. This is where you capture the processes that keep the project alive. How do you manage the code? How do you review changes? Do you test anything? How do you make decisions? How do you communicate? Many research groups do far more than they think here - but because it’s informal or habitual, it doesn’t get written down. This section helps make that invisible work visible. And if there are gaps - and almost all projects have gaps - it helps you notice them in a constructive way.</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next section covers Tools - the infrastructure you rely on. Version control platforms, workflow managers, CI services, container images, build systems, cluster environments, shared drives, cloud platforms, local scripts. You don’t need to list everything, but naming the key tools helps others understand not just how the software is built, but where it lives and how it moves through the research environment.</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Then comes FAIR and Open. FAIR - Findable, Accessible, Interoperable, Reusable - is increasingly central to modern research practice, and many software projects already align with FAIR principles without realising it. This section is an opportunity to make that explicit. Is the code public? Does it have a licence? Are releases versioned? Are data formats standard? Do external users know how to access it? Again, you don’t need to be perfect; you just need to be honest about where you are.</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Next is Documentation - where users and developers can learn more. This might be a README, a wiki, a handbook, examples, notebooks, or even a video. The aim here isn’t to write documentation but to describe what exists and what doesn’t. It’s often surprising how much documentation a project has scattered across different places, and how useful it is to gather that knowledge in one spot.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And lastly, Sustainability. This covers funding, governance, maintenance plans, and long-term prospects. This is often the section people dread, because very few research software projects have formal sustainability strategies. That’s normal. The point here isn’t to force you into one. It’s to help you reflect on whether you have the capacity to keep the software alive, what risks you face, and what options you might have for the future.</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So when you put all these sections together, what you get is not a technical document, not a grant proposal, and not a publication. You get a clear, honest, structured description of the project as it actually exists - the project as lived, not idealised.</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Research Software Story is short. It’s factual. It’s accessible. It’s grounded. And because it uses a common structure, it’s easy for people in other fields to read. Someone in computational biology can learn from a story written by someone in particle physics. Someone in environmental modelling can learn from someone in digital humanities. The structure creates a shared language - not for code, but for practice.</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That’s what Research Software Stories are. They’re a way of capturing the practical reality of software development in research: the decisions, the relationships, the assumptions, and the contexts that shape the work.</a:t>
            </a:r>
          </a:p>
          <a:p>
            <a:pPr lvl="0" indent="0" marL="0">
              <a:buNone/>
            </a:pPr>
          </a:p>
          <a:p>
            <a:pPr lvl="0" indent="0" marL="0">
              <a:buNone/>
            </a:pPr>
            <a:r>
              <a:rPr/>
              <a:t>In the next section, we’ll talk about why it’s worth writing one - and why the benefits can be larger than the effort involved.</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l">
              <a:defRPr baseline="0">
                <a:latin typeface="Roboto" panose="02000000000000000000" pitchFamily="2" charset="0"/>
              </a:defRPr>
            </a:lvl1pPr>
          </a:lstStyle>
          <a:p>
            <a:r>
              <a:rPr lang="en-US" dirty="0"/>
              <a:t>Click to edit Master title style</a:t>
            </a:r>
          </a:p>
        </p:txBody>
      </p:sp>
      <p:sp>
        <p:nvSpPr>
          <p:cNvPr id="3" name="Subtitle 2"/>
          <p:cNvSpPr>
            <a:spLocks noGrp="1"/>
          </p:cNvSpPr>
          <p:nvPr>
            <p:ph type="subTitle" idx="1"/>
          </p:nvPr>
        </p:nvSpPr>
        <p:spPr>
          <a:xfrm>
            <a:off x="685800" y="2914650"/>
            <a:ext cx="6400800" cy="1314450"/>
          </a:xfrm>
        </p:spPr>
        <p:txBody>
          <a:bodyPr/>
          <a:lstStyle>
            <a:lvl1pPr marL="0" indent="0" algn="l">
              <a:buNone/>
              <a:defRPr baseline="0">
                <a:solidFill>
                  <a:schemeClr val="tx1"/>
                </a:solidFill>
                <a:latin typeface="Roboto Light" panose="02000000000000000000" pitchFamily="2"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lvl1pPr algn="l">
              <a:defRPr baseline="0">
                <a:latin typeface="Roboto Light" panose="02000000000000000000" pitchFamily="2" charset="0"/>
              </a:defRPr>
            </a:lvl1pPr>
          </a:lstStyle>
          <a:p>
            <a:r>
              <a:rPr lang="en-US" dirty="0"/>
              <a:t>Click to edit Master title style</a:t>
            </a:r>
          </a:p>
        </p:txBody>
      </p:sp>
      <p:sp>
        <p:nvSpPr>
          <p:cNvPr id="3" name="Content Placeholder 2"/>
          <p:cNvSpPr>
            <a:spLocks noGrp="1"/>
          </p:cNvSpPr>
          <p:nvPr>
            <p:ph idx="1"/>
          </p:nvPr>
        </p:nvSpPr>
        <p:spPr>
          <a:xfrm>
            <a:off x="457200" y="1531917"/>
            <a:ext cx="8229600" cy="3062705"/>
          </a:xfrm>
        </p:spPr>
        <p:txBody>
          <a:bodyPr/>
          <a:lstStyle>
            <a:lvl1pPr>
              <a:defRPr sz="1800" baseline="0">
                <a:latin typeface="Roboto Light" panose="02000000000000000000" pitchFamily="2" charset="0"/>
              </a:defRPr>
            </a:lvl1pPr>
            <a:lvl2pPr>
              <a:defRPr sz="1800" baseline="0">
                <a:latin typeface="Roboto Light" panose="02000000000000000000" pitchFamily="2" charset="0"/>
              </a:defRPr>
            </a:lvl2pPr>
            <a:lvl3pPr>
              <a:defRPr sz="1800" baseline="0">
                <a:latin typeface="Roboto Light" panose="02000000000000000000" pitchFamily="2" charset="0"/>
              </a:defRPr>
            </a:lvl3pPr>
            <a:lvl4pPr>
              <a:defRPr sz="1800" baseline="0">
                <a:latin typeface="Roboto Light" panose="02000000000000000000" pitchFamily="2" charset="0"/>
              </a:defRPr>
            </a:lvl4pPr>
            <a:lvl5pPr>
              <a:defRPr sz="1800" baseline="0">
                <a:latin typeface="Roboto Light" panose="020000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
        <p:nvSpPr>
          <p:cNvPr id="9" name="TextBox 8">
            <a:extLst>
              <a:ext uri="{FF2B5EF4-FFF2-40B4-BE49-F238E27FC236}">
                <a16:creationId xmlns:a16="http://schemas.microsoft.com/office/drawing/2014/main" id="{648DDAD8-9F94-7BB2-18E4-64F35EF11890}"/>
              </a:ext>
            </a:extLst>
          </p:cNvPr>
          <p:cNvSpPr txBox="1"/>
          <p:nvPr userDrawn="1"/>
        </p:nvSpPr>
        <p:spPr>
          <a:xfrm>
            <a:off x="3902529" y="4777227"/>
            <a:ext cx="5241471" cy="253916"/>
          </a:xfrm>
          <a:prstGeom prst="rect">
            <a:avLst/>
          </a:prstGeom>
          <a:noFill/>
        </p:spPr>
        <p:txBody>
          <a:bodyPr wrap="square">
            <a:spAutoFit/>
          </a:bodyPr>
          <a:lstStyle/>
          <a:p>
            <a:r>
              <a:rPr lang="en-US" sz="1050" baseline="0" dirty="0" err="1">
                <a:latin typeface="Roboto Light" panose="02000000000000000000" pitchFamily="2" charset="0"/>
              </a:rPr>
              <a:t>michael.sparks@manchester.ac.uk</a:t>
            </a:r>
            <a:r>
              <a:rPr lang="en-US" sz="1050" baseline="0" dirty="0">
                <a:latin typeface="Roboto Light" panose="02000000000000000000" pitchFamily="2" charset="0"/>
              </a:rPr>
              <a:t> - https://</a:t>
            </a:r>
            <a:r>
              <a:rPr lang="en-US" sz="1050" baseline="0" dirty="0" err="1">
                <a:latin typeface="Roboto Light" panose="02000000000000000000" pitchFamily="2" charset="0"/>
              </a:rPr>
              <a:t>www.linkedin.com</a:t>
            </a:r>
            <a:r>
              <a:rPr lang="en-US" sz="1050" baseline="0" dirty="0">
                <a:latin typeface="Roboto Light" panose="02000000000000000000" pitchFamily="2" charset="0"/>
              </a:rPr>
              <a:t>/in/</a:t>
            </a:r>
            <a:r>
              <a:rPr lang="en-US" sz="1050" baseline="0" dirty="0" err="1">
                <a:latin typeface="Roboto Light" panose="02000000000000000000" pitchFamily="2" charset="0"/>
              </a:rPr>
              <a:t>michael</a:t>
            </a:r>
            <a:r>
              <a:rPr lang="en-US" sz="1050" baseline="0" dirty="0">
                <a:latin typeface="Roboto Light" panose="02000000000000000000" pitchFamily="2" charset="0"/>
              </a:rPr>
              <a:t>-sparks-</a:t>
            </a:r>
            <a:r>
              <a:rPr lang="en-US" sz="1050" baseline="0" dirty="0" err="1">
                <a:latin typeface="Roboto Light" panose="02000000000000000000" pitchFamily="2" charset="0"/>
              </a:rPr>
              <a:t>uk</a:t>
            </a:r>
            <a:r>
              <a:rPr lang="en-US" sz="1050" baseline="0" dirty="0">
                <a:latin typeface="Roboto Light" panose="02000000000000000000" pitchFamily="2" charset="0"/>
              </a:rPr>
              <a:t>/</a:t>
            </a:r>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11/17/25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3" Type="http://schemas.openxmlformats.org/officeDocument/2006/relationships/hyperlink" Target="https://tinyurl.com/EVERSE202511-RSS"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hyperlink" Target="https://tinyurl.com/EVERSE202511-RSS"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Strengthen your Research by Telling Its Software Story</a:t>
            </a:r>
          </a:p>
        </p:txBody>
      </p:sp>
      <p:sp>
        <p:nvSpPr>
          <p:cNvPr id="3" name="Subtitle 2"/>
          <p:cNvSpPr>
            <a:spLocks noGrp="1"/>
          </p:cNvSpPr>
          <p:nvPr>
            <p:ph idx="1" type="subTitle"/>
          </p:nvPr>
        </p:nvSpPr>
        <p:spPr>
          <a:xfrm>
            <a:off x="685800" y="2914650"/>
            <a:ext cx="6400800" cy="1314450"/>
          </a:xfrm>
        </p:spPr>
        <p:txBody>
          <a:bodyPr/>
          <a:lstStyle/>
          <a:p>
            <a:pPr lvl="0" indent="0" marL="0">
              <a:buNone/>
            </a:pPr>
            <a:r>
              <a:rPr/>
              <a:t>2 - What Are Research Software Stories?</a:t>
            </a:r>
            <a:br/>
            <a:br/>
            <a:r>
              <a:rPr/>
              <a:t>EVERSE Network Training, Michael Sparks (Nov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Agenda</a:t>
            </a:r>
          </a:p>
        </p:txBody>
      </p:sp>
      <p:sp>
        <p:nvSpPr>
          <p:cNvPr id="3" name="Content Placeholder 2"/>
          <p:cNvSpPr>
            <a:spLocks noGrp="1"/>
          </p:cNvSpPr>
          <p:nvPr>
            <p:ph idx="1"/>
          </p:nvPr>
        </p:nvSpPr>
        <p:spPr/>
        <p:txBody>
          <a:bodyPr/>
          <a:lstStyle/>
          <a:p>
            <a:pPr lvl="0" indent="0" marL="0">
              <a:spcBef>
                <a:spcPts val="3000"/>
              </a:spcBef>
              <a:buNone/>
            </a:pPr>
            <a:r>
              <a:rPr b="1"/>
              <a:t>First Part</a:t>
            </a:r>
          </a:p>
          <a:p>
            <a:pPr lvl="0"/>
            <a:r>
              <a:rPr/>
              <a:t>1 Introduction and context</a:t>
            </a:r>
          </a:p>
          <a:p>
            <a:pPr lvl="0"/>
            <a:r>
              <a:rPr b="1" i="1"/>
              <a:t>2 What are Research Software Stories?</a:t>
            </a:r>
            <a:r>
              <a:rPr b="1"/>
              <a:t> &lt;– We are here</a:t>
            </a:r>
          </a:p>
          <a:p>
            <a:pPr lvl="0"/>
            <a:r>
              <a:rPr/>
              <a:t>3 Why write them</a:t>
            </a:r>
          </a:p>
          <a:p>
            <a:pPr lvl="0"/>
            <a:r>
              <a:rPr/>
              <a:t>4 How we write them - Template walkthrough</a:t>
            </a:r>
          </a:p>
          <a:p>
            <a:pPr lvl="0" indent="0" marL="0">
              <a:spcBef>
                <a:spcPts val="3000"/>
              </a:spcBef>
              <a:buNone/>
            </a:pPr>
            <a:r>
              <a:rPr b="1"/>
              <a:t>Second Part</a:t>
            </a:r>
          </a:p>
          <a:p>
            <a:pPr lvl="0"/>
            <a:r>
              <a:rPr/>
              <a:t>Guided Writing Session</a:t>
            </a:r>
          </a:p>
          <a:p>
            <a:pPr lvl="0"/>
            <a:r>
              <a:rPr/>
              <a:t>Discussion, Q&amp;A</a:t>
            </a:r>
          </a:p>
          <a:p>
            <a:pPr lvl="0"/>
            <a:r>
              <a:rPr/>
              <a:t>Support Materials </a:t>
            </a:r>
            <a:r>
              <a:rPr>
                <a:hlinkClick r:id="rId3"/>
              </a:rPr>
              <a:t>https://tinyurl.com/EVERSE202511-RSS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Are Research Software Stories?</a:t>
            </a:r>
          </a:p>
        </p:txBody>
      </p:sp>
      <p:sp>
        <p:nvSpPr>
          <p:cNvPr id="3" name="Content Placeholder 2"/>
          <p:cNvSpPr>
            <a:spLocks noGrp="1"/>
          </p:cNvSpPr>
          <p:nvPr>
            <p:ph idx="1"/>
          </p:nvPr>
        </p:nvSpPr>
        <p:spPr/>
        <p:txBody>
          <a:bodyPr/>
          <a:lstStyle/>
          <a:p>
            <a:pPr lvl="0" indent="0" marL="0">
              <a:buNone/>
            </a:pPr>
            <a:r>
              <a:rPr/>
              <a:t>A short, grounded explanation of what these stories actually are - and why they take the shape they do.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Not Technical Documentation</a:t>
            </a:r>
          </a:p>
        </p:txBody>
      </p:sp>
      <p:sp>
        <p:nvSpPr>
          <p:cNvPr id="3" name="Content Placeholder 2"/>
          <p:cNvSpPr>
            <a:spLocks noGrp="1"/>
          </p:cNvSpPr>
          <p:nvPr>
            <p:ph idx="1"/>
          </p:nvPr>
        </p:nvSpPr>
        <p:spPr/>
        <p:txBody>
          <a:bodyPr/>
          <a:lstStyle/>
          <a:p>
            <a:pPr lvl="0"/>
            <a:r>
              <a:rPr/>
              <a:t>Not installation notes</a:t>
            </a:r>
          </a:p>
          <a:p>
            <a:pPr lvl="0"/>
            <a:r>
              <a:rPr/>
              <a:t>Not API references</a:t>
            </a:r>
          </a:p>
          <a:p>
            <a:pPr lvl="0"/>
            <a:r>
              <a:rPr/>
              <a:t>Not workflow diagrams</a:t>
            </a:r>
          </a:p>
          <a:p>
            <a:pPr lvl="0"/>
            <a:r>
              <a:rPr/>
              <a:t>These assume someone already wants to use the software.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Fill the Conceptual Gap</a:t>
            </a:r>
          </a:p>
        </p:txBody>
      </p:sp>
      <p:sp>
        <p:nvSpPr>
          <p:cNvPr id="3" name="Content Placeholder 2"/>
          <p:cNvSpPr>
            <a:spLocks noGrp="1"/>
          </p:cNvSpPr>
          <p:nvPr>
            <p:ph idx="1"/>
          </p:nvPr>
        </p:nvSpPr>
        <p:spPr/>
        <p:txBody>
          <a:bodyPr/>
          <a:lstStyle/>
          <a:p>
            <a:pPr lvl="0" indent="0" marL="0">
              <a:buNone/>
            </a:pPr>
            <a:r>
              <a:rPr/>
              <a:t>A story explains why the software matters, how it fits into the research, and what decisions shaped its development.</a:t>
            </a:r>
          </a:p>
          <a:p>
            <a:pPr lvl="0"/>
            <a:r>
              <a:rPr/>
              <a:t>Short, structured</a:t>
            </a:r>
          </a:p>
          <a:p>
            <a:pPr lvl="0"/>
            <a:r>
              <a:rPr/>
              <a:t>Easy to read and share</a:t>
            </a:r>
          </a:p>
          <a:p>
            <a:pPr lvl="0"/>
            <a:r>
              <a:rPr/>
              <a:t>A blend of abstract + project brief + institutional memory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Call It a “Story”?</a:t>
            </a:r>
          </a:p>
        </p:txBody>
      </p:sp>
      <p:sp>
        <p:nvSpPr>
          <p:cNvPr id="3" name="Content Placeholder 2"/>
          <p:cNvSpPr>
            <a:spLocks noGrp="1"/>
          </p:cNvSpPr>
          <p:nvPr>
            <p:ph idx="1"/>
          </p:nvPr>
        </p:nvSpPr>
        <p:spPr/>
        <p:txBody>
          <a:bodyPr/>
          <a:lstStyle/>
          <a:p>
            <a:pPr lvl="0" indent="0" marL="0">
              <a:buNone/>
            </a:pPr>
            <a:r>
              <a:rPr/>
              <a:t>Not to be literary - but to focus on:</a:t>
            </a:r>
          </a:p>
          <a:p>
            <a:pPr lvl="0"/>
            <a:r>
              <a:rPr/>
              <a:t>the shape of the project, how it came to be</a:t>
            </a:r>
          </a:p>
          <a:p>
            <a:pPr lvl="0"/>
            <a:r>
              <a:rPr/>
              <a:t>the problem it solves</a:t>
            </a:r>
          </a:p>
          <a:p>
            <a:pPr lvl="0"/>
            <a:r>
              <a:rPr/>
              <a:t>who depends on it</a:t>
            </a:r>
          </a:p>
          <a:p>
            <a:pPr lvl="0"/>
            <a:r>
              <a:rPr/>
              <a:t>what assumptions underpin it</a:t>
            </a:r>
          </a:p>
          <a:p>
            <a:pPr lvl="0"/>
            <a:r>
              <a:rPr/>
              <a:t>how it supports research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Narrative in a Scientific Sense</a:t>
            </a:r>
          </a:p>
        </p:txBody>
      </p:sp>
      <p:sp>
        <p:nvSpPr>
          <p:cNvPr id="3" name="Content Placeholder 2"/>
          <p:cNvSpPr>
            <a:spLocks noGrp="1"/>
          </p:cNvSpPr>
          <p:nvPr>
            <p:ph idx="1"/>
          </p:nvPr>
        </p:nvSpPr>
        <p:spPr/>
        <p:txBody>
          <a:bodyPr/>
          <a:lstStyle/>
          <a:p>
            <a:pPr lvl="0" indent="0" marL="0">
              <a:buNone/>
            </a:pPr>
            <a:r>
              <a:rPr/>
              <a:t>A clear, jargon-free explanation of the research activity surrounding the software.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Shared Structure Matters</a:t>
            </a:r>
          </a:p>
        </p:txBody>
      </p:sp>
      <p:sp>
        <p:nvSpPr>
          <p:cNvPr id="3" name="Content Placeholder 2"/>
          <p:cNvSpPr>
            <a:spLocks noGrp="1"/>
          </p:cNvSpPr>
          <p:nvPr>
            <p:ph idx="1"/>
          </p:nvPr>
        </p:nvSpPr>
        <p:spPr/>
        <p:txBody>
          <a:bodyPr/>
          <a:lstStyle/>
          <a:p>
            <a:pPr lvl="0"/>
            <a:r>
              <a:rPr/>
              <a:t>RSQKit uses one template</a:t>
            </a:r>
          </a:p>
          <a:p>
            <a:pPr lvl="0"/>
            <a:r>
              <a:rPr/>
              <a:t>Cross-domain, cross-disciplinary</a:t>
            </a:r>
          </a:p>
          <a:p>
            <a:pPr lvl="0"/>
            <a:r>
              <a:rPr/>
              <a:t>Works for physics, biology, humanities, climate science</a:t>
            </a:r>
          </a:p>
          <a:p>
            <a:pPr lvl="0"/>
            <a:r>
              <a:rPr/>
              <a:t>Same core questions for any research software project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Key Elements of a Story</a:t>
            </a:r>
          </a:p>
        </p:txBody>
      </p:sp>
      <p:sp>
        <p:nvSpPr>
          <p:cNvPr id="3" name="Content Placeholder 2"/>
          <p:cNvSpPr>
            <a:spLocks noGrp="1"/>
          </p:cNvSpPr>
          <p:nvPr>
            <p:ph idx="1"/>
          </p:nvPr>
        </p:nvSpPr>
        <p:spPr/>
        <p:txBody>
          <a:bodyPr/>
          <a:lstStyle/>
          <a:p>
            <a:pPr lvl="0" indent="0" marL="0">
              <a:buNone/>
            </a:pPr>
            <a:r>
              <a:rPr/>
              <a:t>We’ll now briefly introduce each element:</a:t>
            </a:r>
          </a:p>
          <a:p>
            <a:pPr lvl="0"/>
            <a:r>
              <a:rPr/>
              <a:t>Problem</a:t>
            </a:r>
          </a:p>
          <a:p>
            <a:pPr lvl="0"/>
            <a:r>
              <a:rPr/>
              <a:t>Community</a:t>
            </a:r>
          </a:p>
          <a:p>
            <a:pPr lvl="0"/>
            <a:r>
              <a:rPr/>
              <a:t>Technical Aspects</a:t>
            </a:r>
          </a:p>
          <a:p>
            <a:pPr lvl="0"/>
            <a:r>
              <a:rPr/>
              <a:t>Software Practices</a:t>
            </a:r>
          </a:p>
          <a:p>
            <a:pPr lvl="0"/>
            <a:r>
              <a:rPr/>
              <a:t>Tools</a:t>
            </a:r>
          </a:p>
          <a:p>
            <a:pPr lvl="0"/>
            <a:r>
              <a:rPr/>
              <a:t>FAIR and Open</a:t>
            </a:r>
          </a:p>
          <a:p>
            <a:pPr lvl="0"/>
            <a:r>
              <a:rPr/>
              <a:t>Documentation</a:t>
            </a:r>
          </a:p>
          <a:p>
            <a:pPr lvl="0"/>
            <a:r>
              <a:rPr/>
              <a:t>Sustainability</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Problem</a:t>
            </a:r>
          </a:p>
        </p:txBody>
      </p:sp>
      <p:sp>
        <p:nvSpPr>
          <p:cNvPr id="3" name="Content Placeholder 2"/>
          <p:cNvSpPr>
            <a:spLocks noGrp="1"/>
          </p:cNvSpPr>
          <p:nvPr>
            <p:ph idx="1"/>
          </p:nvPr>
        </p:nvSpPr>
        <p:spPr/>
        <p:txBody>
          <a:bodyPr/>
          <a:lstStyle/>
          <a:p>
            <a:pPr lvl="0" indent="0" marL="0">
              <a:buNone/>
            </a:pPr>
            <a:r>
              <a:rPr/>
              <a:t>Clarifies the scientific or technical challenge the software addresses.</a:t>
            </a:r>
          </a:p>
          <a:p>
            <a:pPr lvl="0"/>
            <a:r>
              <a:rPr/>
              <a:t>Problems change over time</a:t>
            </a:r>
          </a:p>
          <a:p>
            <a:pPr lvl="0"/>
            <a:r>
              <a:rPr/>
              <a:t>Assumptions drift</a:t>
            </a:r>
          </a:p>
          <a:p>
            <a:pPr lvl="0"/>
            <a:r>
              <a:rPr/>
              <a:t>Today’s work may differ from original aims</a:t>
            </a:r>
          </a:p>
          <a:p>
            <a:pPr lvl="0"/>
            <a:r>
              <a:rPr/>
              <a:t>Surfacing this is illuminating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Community</a:t>
            </a:r>
          </a:p>
        </p:txBody>
      </p:sp>
      <p:sp>
        <p:nvSpPr>
          <p:cNvPr id="3" name="Content Placeholder 2"/>
          <p:cNvSpPr>
            <a:spLocks noGrp="1"/>
          </p:cNvSpPr>
          <p:nvPr>
            <p:ph idx="1"/>
          </p:nvPr>
        </p:nvSpPr>
        <p:spPr/>
        <p:txBody>
          <a:bodyPr/>
          <a:lstStyle/>
          <a:p>
            <a:pPr lvl="0" indent="0" marL="0">
              <a:buNone/>
            </a:pPr>
            <a:r>
              <a:rPr/>
              <a:t>Who builds the software and who uses it:</a:t>
            </a:r>
          </a:p>
          <a:p>
            <a:pPr lvl="0"/>
            <a:r>
              <a:rPr/>
              <a:t>Developers</a:t>
            </a:r>
          </a:p>
          <a:p>
            <a:pPr lvl="0"/>
            <a:r>
              <a:rPr/>
              <a:t>Contributors</a:t>
            </a:r>
          </a:p>
          <a:p>
            <a:pPr lvl="0"/>
            <a:r>
              <a:rPr/>
              <a:t>Internal/external users</a:t>
            </a:r>
          </a:p>
          <a:p>
            <a:pPr lvl="0"/>
            <a:r>
              <a:rPr/>
              <a:t>Distinct groups and roles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Technical Aspects</a:t>
            </a:r>
          </a:p>
        </p:txBody>
      </p:sp>
      <p:sp>
        <p:nvSpPr>
          <p:cNvPr id="3" name="Content Placeholder 2"/>
          <p:cNvSpPr>
            <a:spLocks noGrp="1"/>
          </p:cNvSpPr>
          <p:nvPr>
            <p:ph idx="1"/>
          </p:nvPr>
        </p:nvSpPr>
        <p:spPr/>
        <p:txBody>
          <a:bodyPr/>
          <a:lstStyle/>
          <a:p>
            <a:pPr lvl="0" indent="0" marL="0">
              <a:buNone/>
            </a:pPr>
            <a:r>
              <a:rPr/>
              <a:t>Core technologies and constraints:</a:t>
            </a:r>
          </a:p>
          <a:p>
            <a:pPr lvl="0"/>
            <a:r>
              <a:rPr/>
              <a:t>languages, frameworks</a:t>
            </a:r>
          </a:p>
          <a:p>
            <a:pPr lvl="0"/>
            <a:r>
              <a:rPr/>
              <a:t>operating environments</a:t>
            </a:r>
          </a:p>
          <a:p>
            <a:pPr lvl="0"/>
            <a:r>
              <a:rPr/>
              <a:t>data models</a:t>
            </a:r>
          </a:p>
          <a:p>
            <a:pPr lvl="0"/>
            <a:r>
              <a:rPr/>
              <a:t>dependencies</a:t>
            </a:r>
          </a:p>
          <a:p>
            <a:pPr lvl="0" indent="0" marL="0">
              <a:buNone/>
            </a:pPr>
            <a:r>
              <a:rPr/>
              <a:t>Not a full inventory - just the essentials.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Software Practices</a:t>
            </a:r>
          </a:p>
        </p:txBody>
      </p:sp>
      <p:sp>
        <p:nvSpPr>
          <p:cNvPr id="3" name="Content Placeholder 2"/>
          <p:cNvSpPr>
            <a:spLocks noGrp="1"/>
          </p:cNvSpPr>
          <p:nvPr>
            <p:ph idx="1"/>
          </p:nvPr>
        </p:nvSpPr>
        <p:spPr/>
        <p:txBody>
          <a:bodyPr/>
          <a:lstStyle/>
          <a:p>
            <a:pPr lvl="0" indent="0" marL="0">
              <a:buNone/>
            </a:pPr>
            <a:r>
              <a:rPr/>
              <a:t>Captures the processes that keep the project alive:</a:t>
            </a:r>
          </a:p>
          <a:p>
            <a:pPr lvl="0"/>
            <a:r>
              <a:rPr/>
              <a:t>version control</a:t>
            </a:r>
          </a:p>
          <a:p>
            <a:pPr lvl="0"/>
            <a:r>
              <a:rPr/>
              <a:t>review processes</a:t>
            </a:r>
          </a:p>
          <a:p>
            <a:pPr lvl="0"/>
            <a:r>
              <a:rPr/>
              <a:t>decision-making</a:t>
            </a:r>
          </a:p>
          <a:p>
            <a:pPr lvl="0"/>
            <a:r>
              <a:rPr/>
              <a:t>communication patterns</a:t>
            </a:r>
          </a:p>
          <a:p>
            <a:pPr lvl="0"/>
            <a:r>
              <a:rPr/>
              <a:t>testing (formal or informal)</a:t>
            </a:r>
          </a:p>
          <a:p>
            <a:pPr lvl="0" indent="0" marL="0">
              <a:buNone/>
            </a:pPr>
            <a:r>
              <a:rPr/>
              <a:t>Makes invisible work visible; Reveals gaps constructively.; Supports more sustainable workflow.</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Tools</a:t>
            </a:r>
          </a:p>
        </p:txBody>
      </p:sp>
      <p:sp>
        <p:nvSpPr>
          <p:cNvPr id="3" name="Content Placeholder 2"/>
          <p:cNvSpPr>
            <a:spLocks noGrp="1"/>
          </p:cNvSpPr>
          <p:nvPr>
            <p:ph idx="1"/>
          </p:nvPr>
        </p:nvSpPr>
        <p:spPr/>
        <p:txBody>
          <a:bodyPr/>
          <a:lstStyle/>
          <a:p>
            <a:pPr lvl="0" indent="0" marL="0">
              <a:buNone/>
            </a:pPr>
            <a:r>
              <a:rPr/>
              <a:t>Key infrastructure:</a:t>
            </a:r>
          </a:p>
          <a:p>
            <a:pPr lvl="0"/>
            <a:r>
              <a:rPr/>
              <a:t>version control platforms</a:t>
            </a:r>
          </a:p>
          <a:p>
            <a:pPr lvl="0"/>
            <a:r>
              <a:rPr/>
              <a:t>workflow managers</a:t>
            </a:r>
          </a:p>
          <a:p>
            <a:pPr lvl="0"/>
            <a:r>
              <a:rPr/>
              <a:t>CI systems</a:t>
            </a:r>
          </a:p>
          <a:p>
            <a:pPr lvl="0"/>
            <a:r>
              <a:rPr/>
              <a:t>containers, clusters, cloud, scripts</a:t>
            </a:r>
          </a:p>
          <a:p>
            <a:pPr lvl="0" indent="0" marL="0">
              <a:buNone/>
            </a:pPr>
            <a:r>
              <a:rPr/>
              <a:t>Not exhaustive - just the essentials.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FAIR and Open</a:t>
            </a:r>
          </a:p>
        </p:txBody>
      </p:sp>
      <p:sp>
        <p:nvSpPr>
          <p:cNvPr id="3" name="Content Placeholder 2"/>
          <p:cNvSpPr>
            <a:spLocks noGrp="1"/>
          </p:cNvSpPr>
          <p:nvPr>
            <p:ph idx="1"/>
          </p:nvPr>
        </p:nvSpPr>
        <p:spPr/>
        <p:txBody>
          <a:bodyPr/>
          <a:lstStyle/>
          <a:p>
            <a:pPr lvl="0"/>
            <a:r>
              <a:rPr/>
              <a:t>Findable</a:t>
            </a:r>
          </a:p>
          <a:p>
            <a:pPr lvl="0"/>
            <a:r>
              <a:rPr/>
              <a:t>Accessible</a:t>
            </a:r>
          </a:p>
          <a:p>
            <a:pPr lvl="0"/>
            <a:r>
              <a:rPr/>
              <a:t>Interoperable</a:t>
            </a:r>
          </a:p>
          <a:p>
            <a:pPr lvl="0"/>
            <a:r>
              <a:rPr/>
              <a:t>Reusable</a:t>
            </a:r>
          </a:p>
          <a:p>
            <a:pPr lvl="0" indent="0" marL="0">
              <a:buNone/>
            </a:pPr>
            <a:r>
              <a:rPr/>
              <a:t>A chance to reflect on openness, licences, releases, and data formats.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Documentation</a:t>
            </a:r>
          </a:p>
        </p:txBody>
      </p:sp>
      <p:sp>
        <p:nvSpPr>
          <p:cNvPr id="3" name="Content Placeholder 2"/>
          <p:cNvSpPr>
            <a:spLocks noGrp="1"/>
          </p:cNvSpPr>
          <p:nvPr>
            <p:ph idx="1"/>
          </p:nvPr>
        </p:nvSpPr>
        <p:spPr/>
        <p:txBody>
          <a:bodyPr/>
          <a:lstStyle/>
          <a:p>
            <a:pPr lvl="0" indent="0" marL="0">
              <a:buNone/>
            </a:pPr>
            <a:r>
              <a:rPr/>
              <a:t>Where users learn more:</a:t>
            </a:r>
          </a:p>
          <a:p>
            <a:pPr lvl="0"/>
            <a:r>
              <a:rPr/>
              <a:t>README</a:t>
            </a:r>
          </a:p>
          <a:p>
            <a:pPr lvl="0"/>
            <a:r>
              <a:rPr/>
              <a:t>wiki</a:t>
            </a:r>
          </a:p>
          <a:p>
            <a:pPr lvl="0"/>
            <a:r>
              <a:rPr/>
              <a:t>handbook</a:t>
            </a:r>
          </a:p>
          <a:p>
            <a:pPr lvl="0"/>
            <a:r>
              <a:rPr/>
              <a:t>examples/notebooks</a:t>
            </a:r>
          </a:p>
          <a:p>
            <a:pPr lvl="0"/>
            <a:r>
              <a:rPr/>
              <a:t>videos</a:t>
            </a:r>
          </a:p>
          <a:p>
            <a:pPr lvl="0" indent="0" marL="0">
              <a:buNone/>
            </a:pPr>
            <a:r>
              <a:rPr/>
              <a:t>Focus: what exists, what’s missing, where it lives.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Sustainability</a:t>
            </a:r>
          </a:p>
        </p:txBody>
      </p:sp>
      <p:sp>
        <p:nvSpPr>
          <p:cNvPr id="3" name="Content Placeholder 2"/>
          <p:cNvSpPr>
            <a:spLocks noGrp="1"/>
          </p:cNvSpPr>
          <p:nvPr>
            <p:ph idx="1"/>
          </p:nvPr>
        </p:nvSpPr>
        <p:spPr/>
        <p:txBody>
          <a:bodyPr/>
          <a:lstStyle/>
          <a:p>
            <a:pPr lvl="0" indent="0" marL="0">
              <a:buNone/>
            </a:pPr>
            <a:r>
              <a:rPr/>
              <a:t>Funding, governance, maintenance, future prospects.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What the Whole Story Becomes</a:t>
            </a:r>
          </a:p>
        </p:txBody>
      </p:sp>
      <p:sp>
        <p:nvSpPr>
          <p:cNvPr id="3" name="Content Placeholder 2"/>
          <p:cNvSpPr>
            <a:spLocks noGrp="1"/>
          </p:cNvSpPr>
          <p:nvPr>
            <p:ph idx="1"/>
          </p:nvPr>
        </p:nvSpPr>
        <p:spPr/>
        <p:txBody>
          <a:bodyPr/>
          <a:lstStyle/>
          <a:p>
            <a:pPr lvl="0" indent="0" marL="0">
              <a:buNone/>
            </a:pPr>
            <a:r>
              <a:rPr/>
              <a:t>Not a technical manual. Not a publication. Not a grant proposal. But a clear, honest description of the project </a:t>
            </a:r>
            <a:r>
              <a:rPr i="1"/>
              <a:t>as it is</a:t>
            </a:r>
            <a:r>
              <a:rPr/>
              <a:t>.</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Why Short Matters</a:t>
            </a:r>
          </a:p>
        </p:txBody>
      </p:sp>
      <p:sp>
        <p:nvSpPr>
          <p:cNvPr id="3" name="Content Placeholder 2"/>
          <p:cNvSpPr>
            <a:spLocks noGrp="1"/>
          </p:cNvSpPr>
          <p:nvPr>
            <p:ph idx="1"/>
          </p:nvPr>
        </p:nvSpPr>
        <p:spPr/>
        <p:txBody>
          <a:bodyPr/>
          <a:lstStyle/>
          <a:p>
            <a:pPr lvl="0" indent="0" marL="0">
              <a:buNone/>
            </a:pPr>
            <a:r>
              <a:rPr/>
              <a:t>Stories are deliberately:</a:t>
            </a:r>
          </a:p>
          <a:p>
            <a:pPr lvl="0"/>
            <a:r>
              <a:rPr/>
              <a:t>short</a:t>
            </a:r>
          </a:p>
          <a:p>
            <a:pPr lvl="0"/>
            <a:r>
              <a:rPr/>
              <a:t>factual</a:t>
            </a:r>
          </a:p>
          <a:p>
            <a:pPr lvl="0"/>
            <a:r>
              <a:rPr/>
              <a:t>accessible</a:t>
            </a:r>
          </a:p>
          <a:p>
            <a:pPr lvl="0"/>
            <a:r>
              <a:rPr/>
              <a:t>easy for any domain to read</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242"/>
            <a:ext cx="8229600" cy="857250"/>
          </a:xfrm>
        </p:spPr>
        <p:txBody>
          <a:bodyPr/>
          <a:lstStyle/>
          <a:p>
            <a:pPr lvl="0" indent="0" marL="0">
              <a:buNone/>
            </a:pPr>
            <a:r>
              <a:rPr/>
              <a:t>Stories Create a Shared Language</a:t>
            </a:r>
          </a:p>
        </p:txBody>
      </p:sp>
      <p:sp>
        <p:nvSpPr>
          <p:cNvPr id="3" name="Content Placeholder 2"/>
          <p:cNvSpPr>
            <a:spLocks noGrp="1"/>
          </p:cNvSpPr>
          <p:nvPr>
            <p:ph idx="1"/>
          </p:nvPr>
        </p:nvSpPr>
        <p:spPr/>
        <p:txBody>
          <a:bodyPr/>
          <a:lstStyle/>
          <a:p>
            <a:pPr lvl="0" indent="0" marL="0">
              <a:buNone/>
            </a:pPr>
            <a:r>
              <a:rPr/>
              <a:t>A shared structure for capturing practice - not code.</a:t>
            </a:r>
          </a:p>
          <a:p>
            <a:pPr lvl="0" indent="0">
              <a:buNone/>
            </a:pPr>
            <a:r>
              <a:rPr>
                <a:latin typeface="UnTaza"/>
              </a:rPr>
              <a:t/>
            </a:r>
          </a:p>
          <a:p>
            <a:pPr lvl="0"/>
            <a:r>
              <a:rPr/>
              <a:t>Support Materials </a:t>
            </a:r>
            <a:r>
              <a:rPr>
                <a:hlinkClick r:id="rId3"/>
              </a:rPr>
              <a:t>https://tinyurl.com/EVERSE202511-RSS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TotalTime>
  <Words>1159</Words>
  <Application>Microsoft Macintosh PowerPoint</Application>
  <PresentationFormat>On-screen Show (16:9)</PresentationFormat>
  <Paragraphs>232</Paragraphs>
  <Slides>41</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Roboto</vt:lpstr>
      <vt:lpstr>Roboto Light</vt:lpstr>
      <vt:lpstr>Office Theme</vt:lpstr>
      <vt:lpstr>Strengthen your Research by Telling Its Software Story</vt:lpstr>
      <vt:lpstr>Why the Template Matters</vt:lpstr>
      <vt:lpstr>What We’re Doing in This Walkthrough</vt:lpstr>
      <vt:lpstr>First Impression: “This Looks Like a Lot”</vt:lpstr>
      <vt:lpstr>The Template as a Thinking Tool</vt:lpstr>
      <vt:lpstr>Section 1: The Problem</vt:lpstr>
      <vt:lpstr>Why “The Problem” Matters</vt:lpstr>
      <vt:lpstr>What To Write Here</vt:lpstr>
      <vt:lpstr>Section 2: The Community</vt:lpstr>
      <vt:lpstr>What This Section Reveals</vt:lpstr>
      <vt:lpstr>Why This Section Matters</vt:lpstr>
      <vt:lpstr>Section 3: Technical Aspects</vt:lpstr>
      <vt:lpstr>What Goes Here</vt:lpstr>
      <vt:lpstr>Why This Helps Readers</vt:lpstr>
      <vt:lpstr>Section 3a: Libraries &amp; Systems</vt:lpstr>
      <vt:lpstr>What This Tells People</vt:lpstr>
      <vt:lpstr>Section 4: Software Practices</vt:lpstr>
      <vt:lpstr>What To Include</vt:lpstr>
      <vt:lpstr>Why Practices Matter</vt:lpstr>
      <vt:lpstr>Section 5: Community (Adoption &amp; Onboarding)</vt:lpstr>
      <vt:lpstr>What Goes Here</vt:lpstr>
      <vt:lpstr>Why This Section Is Valuable</vt:lpstr>
      <vt:lpstr>Section 6: Tools</vt:lpstr>
      <vt:lpstr>What To Describe</vt:lpstr>
      <vt:lpstr>Why Tools Matter</vt:lpstr>
      <vt:lpstr>Link to RSQKit</vt:lpstr>
      <vt:lpstr>Section 7: FAIR &amp; Open</vt:lpstr>
      <vt:lpstr>FAIR: What To Address</vt:lpstr>
      <vt:lpstr>Open: What To Address</vt:lpstr>
      <vt:lpstr>Why FAIR &amp; Open Matter</vt:lpstr>
      <vt:lpstr>Section 8: Documentation</vt:lpstr>
      <vt:lpstr>What To Describe</vt:lpstr>
      <vt:lpstr>The Key Message</vt:lpstr>
      <vt:lpstr>Section 9: Sustainability</vt:lpstr>
      <vt:lpstr>What Goes Here</vt:lpstr>
      <vt:lpstr>Why Sustainability Matters</vt:lpstr>
      <vt:lpstr>Section 10: References</vt:lpstr>
      <vt:lpstr>What References Show</vt:lpstr>
      <vt:lpstr>Bringing It All Together</vt:lpstr>
      <vt:lpstr>What This Template Really Does</vt:lpstr>
      <vt:lpstr>The Aim Today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Strengthen your Research by Telling Its Software Story</dc:title>
  <dc:creator>EVERSE Network Training, Michael Sparks (Nov 2025)</dc:creator>
  <cp:keywords/>
  <dcterms:created xsi:type="dcterms:W3CDTF">2025-11-18T11:54:21Z</dcterms:created>
  <dcterms:modified xsi:type="dcterms:W3CDTF">2025-11-18T11:54:21Z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spectratio">
    <vt:lpwstr>169</vt:lpwstr>
  </property>
  <property fmtid="{D5CDD505-2E9C-101B-9397-08002B2CF9AE}" pid="3" name="classoption">
    <vt:lpwstr>t</vt:lpwstr>
  </property>
  <property fmtid="{D5CDD505-2E9C-101B-9397-08002B2CF9AE}" pid="4" name="colorlinks">
    <vt:lpwstr>True</vt:lpwstr>
  </property>
  <property fmtid="{D5CDD505-2E9C-101B-9397-08002B2CF9AE}" pid="5" name="colortheme">
    <vt:lpwstr>dolphin</vt:lpwstr>
  </property>
  <property fmtid="{D5CDD505-2E9C-101B-9397-08002B2CF9AE}" pid="6" name="fontsize">
    <vt:lpwstr>10pt</vt:lpwstr>
  </property>
  <property fmtid="{D5CDD505-2E9C-101B-9397-08002B2CF9AE}" pid="7" name="header-includes">
    <vt:lpwstr/>
  </property>
  <property fmtid="{D5CDD505-2E9C-101B-9397-08002B2CF9AE}" pid="8" name="linestretch">
    <vt:lpwstr>1</vt:lpwstr>
  </property>
  <property fmtid="{D5CDD505-2E9C-101B-9397-08002B2CF9AE}" pid="9" name="linkcolor">
    <vt:lpwstr>blue</vt:lpwstr>
  </property>
  <property fmtid="{D5CDD505-2E9C-101B-9397-08002B2CF9AE}" pid="10" name="linkstyle">
    <vt:lpwstr>bold</vt:lpwstr>
  </property>
  <property fmtid="{D5CDD505-2E9C-101B-9397-08002B2CF9AE}" pid="11" name="mainfont">
    <vt:lpwstr>LiberationSerif-Regular</vt:lpwstr>
  </property>
  <property fmtid="{D5CDD505-2E9C-101B-9397-08002B2CF9AE}" pid="12" name="mainfontoptions">
    <vt:lpwstr/>
  </property>
  <property fmtid="{D5CDD505-2E9C-101B-9397-08002B2CF9AE}" pid="13" name="monofont">
    <vt:lpwstr>UnTaza</vt:lpwstr>
  </property>
  <property fmtid="{D5CDD505-2E9C-101B-9397-08002B2CF9AE}" pid="14" name="monofontoptions">
    <vt:lpwstr/>
  </property>
  <property fmtid="{D5CDD505-2E9C-101B-9397-08002B2CF9AE}" pid="15" name="output">
    <vt:lpwstr>beamer_presentation</vt:lpwstr>
  </property>
  <property fmtid="{D5CDD505-2E9C-101B-9397-08002B2CF9AE}" pid="16" name="papersize">
    <vt:lpwstr>a4</vt:lpwstr>
  </property>
  <property fmtid="{D5CDD505-2E9C-101B-9397-08002B2CF9AE}" pid="17" name="pdf-engine">
    <vt:lpwstr>xelatex</vt:lpwstr>
  </property>
  <property fmtid="{D5CDD505-2E9C-101B-9397-08002B2CF9AE}" pid="18" name="subtitle">
    <vt:lpwstr>2 - What Are Research Software Stories?</vt:lpwstr>
  </property>
  <property fmtid="{D5CDD505-2E9C-101B-9397-08002B2CF9AE}" pid="19" name="theme">
    <vt:lpwstr>Madrid</vt:lpwstr>
  </property>
  <property fmtid="{D5CDD505-2E9C-101B-9397-08002B2CF9AE}" pid="20" name="toc">
    <vt:lpwstr>False</vt:lpwstr>
  </property>
  <property fmtid="{D5CDD505-2E9C-101B-9397-08002B2CF9AE}" pid="21" name="urlcolor">
    <vt:lpwstr>red</vt:lpwstr>
  </property>
</Properties>
</file>